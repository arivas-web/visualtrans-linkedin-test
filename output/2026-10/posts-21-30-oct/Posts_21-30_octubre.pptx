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Posts LinkedIn 21–30 octubre</a:t>
            </a:r>
          </a:p>
          <a:p>
            <a:pPr>
              <a:defRPr sz="1300">
                <a:solidFill>
                  <a:srgbClr val="666666"/>
                </a:solidFill>
              </a:defRPr>
            </a:pPr>
            <a:r>
              <a:t>24 posts · pendiente de rellenar: datos entre [CORCHETES] (Tariff Code, fletes, tasa e-commerce, Código Aduanero)</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2000"/>
            </a:pPr>
            <a:r>
              <a:t>Una diapositiva por post, en orden cronológico.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miércoles 21/10 10:00 · Laura Díaz</a:t>
            </a:r>
          </a:p>
          <a:p>
            <a:pPr>
              <a:defRPr sz="1300">
                <a:solidFill>
                  <a:srgbClr val="666666"/>
                </a:solidFill>
              </a:defRPr>
            </a:pPr>
            <a:r>
              <a:t> · Pain — · formato: solo texto</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Confieso una cosa.</a:t>
            </a:r>
          </a:p>
          <a:p>
            <a:pPr>
              <a:spcAft>
                <a:spcPts val="200"/>
              </a:spcAft>
              <a:defRPr sz="1800"/>
            </a:pPr>
          </a:p>
          <a:p>
            <a:pPr>
              <a:spcAft>
                <a:spcPts val="200"/>
              </a:spcAft>
              <a:defRPr sz="1800"/>
            </a:pPr>
            <a:r>
              <a:t>Hay tareas en esta oficina que odio con todas mis ganas. Copiar un dato de un PDF a una pantalla. Y luego el mismo dato a otra. Y luego comprobar que lo he copiado bien. Eso no es trabajo, es castigo.</a:t>
            </a:r>
          </a:p>
          <a:p>
            <a:pPr>
              <a:spcAft>
                <a:spcPts val="200"/>
              </a:spcAft>
              <a:defRPr sz="1800"/>
            </a:pPr>
          </a:p>
          <a:p>
            <a:pPr>
              <a:spcAft>
                <a:spcPts val="200"/>
              </a:spcAft>
              <a:defRPr sz="1800"/>
            </a:pPr>
            <a:r>
              <a:t>Y lo peor es que lo hacemos bien. Tan bien que nadie se queja.</a:t>
            </a:r>
          </a:p>
          <a:p>
            <a:pPr>
              <a:spcAft>
                <a:spcPts val="200"/>
              </a:spcAft>
              <a:defRPr sz="1800"/>
            </a:pPr>
          </a:p>
          <a:p>
            <a:pPr>
              <a:spcAft>
                <a:spcPts val="200"/>
              </a:spcAft>
              <a:defRPr sz="1800"/>
            </a:pPr>
            <a:r>
              <a:t>Aquí le pido a la IA lo aburrido. Lo de pensar, lo de llamar al cliente y decirle "oye, esto no cuadra", eso me lo quedo yo.</a:t>
            </a:r>
          </a:p>
          <a:p>
            <a:pPr>
              <a:spcAft>
                <a:spcPts val="200"/>
              </a:spcAft>
              <a:defRPr sz="1800"/>
            </a:pPr>
          </a:p>
          <a:p>
            <a:pPr>
              <a:spcAft>
                <a:spcPts val="200"/>
              </a:spcAft>
              <a:defRPr sz="1800"/>
            </a:pPr>
            <a:r>
              <a:t>No sé si es la mejor forma de usarla. Pero esta semana he vuelto a casa con la cabeza menos frita, y eso ya cuenta.</a:t>
            </a:r>
          </a:p>
          <a:p>
            <a:pPr>
              <a:spcAft>
                <a:spcPts val="200"/>
              </a:spcAft>
              <a:defRPr sz="1800"/>
            </a:pPr>
          </a:p>
          <a:p>
            <a:pPr>
              <a:spcAft>
                <a:spcPts val="200"/>
              </a:spcAft>
              <a:defRPr sz="1800"/>
            </a:pPr>
            <a:r>
              <a:t>¿Qué es lo primero que le quitarías tú a tu semana?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miércoles 21/10 · Visual Trans (empresa)</a:t>
            </a:r>
          </a:p>
          <a:p>
            <a:pPr>
              <a:defRPr sz="1300">
                <a:solidFill>
                  <a:srgbClr val="666666"/>
                </a:solidFill>
              </a:defRPr>
            </a:pPr>
            <a:r>
              <a:t>Noticias · Pain — · formato: carrusel</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3 €.</a:t>
            </a:r>
          </a:p>
          <a:p>
            <a:pPr>
              <a:spcAft>
                <a:spcPts val="200"/>
              </a:spcAft>
              <a:defRPr sz="1800"/>
            </a:pPr>
          </a:p>
          <a:p>
            <a:pPr>
              <a:spcAft>
                <a:spcPts val="200"/>
              </a:spcAft>
              <a:defRPr sz="1800"/>
            </a:pPr>
            <a:r>
              <a:t>Es el derecho de aduana fijo que ya se aplica a los envíos de e-commerce de bajo valor desde el 1 de julio, [por tipo de artículo / por envío: CONFIRMAR EN FUENTE OFICIAL].</a:t>
            </a:r>
          </a:p>
          <a:p>
            <a:pPr>
              <a:spcAft>
                <a:spcPts val="200"/>
              </a:spcAft>
              <a:defRPr sz="1800"/>
            </a:pPr>
          </a:p>
          <a:p>
            <a:pPr>
              <a:spcAft>
                <a:spcPts val="200"/>
              </a:spcAft>
              <a:defRPr sz="1800"/>
            </a:pPr>
            <a:r>
              <a:t>Y el 1 de noviembre llega lo siguiente: la tasa de tramitación. Importe previsto: [IMPORTE € PREVISTO, pendiente de confirmación de la Comisión].</a:t>
            </a:r>
          </a:p>
          <a:p>
            <a:pPr>
              <a:spcAft>
                <a:spcPts val="200"/>
              </a:spcAft>
              <a:defRPr sz="1800"/>
            </a:pPr>
          </a:p>
          <a:p>
            <a:pPr>
              <a:spcAft>
                <a:spcPts val="200"/>
              </a:spcAft>
              <a:defRPr sz="1800"/>
            </a:pPr>
            <a:r>
              <a:t>Para quien tramita, tres cosas que ya cambian:</a:t>
            </a:r>
          </a:p>
          <a:p>
            <a:pPr>
              <a:spcAft>
                <a:spcPts val="200"/>
              </a:spcAft>
              <a:defRPr sz="1800"/>
            </a:pPr>
          </a:p>
          <a:p>
            <a:pPr>
              <a:spcAft>
                <a:spcPts val="200"/>
              </a:spcAft>
              <a:defRPr sz="1800"/>
            </a:pPr>
            <a:r>
              <a:t>1️⃣ La franquicia de 150 € ha desaparecido.</a:t>
            </a:r>
          </a:p>
          <a:p>
            <a:pPr>
              <a:spcAft>
                <a:spcPts val="200"/>
              </a:spcAft>
              <a:defRPr sz="1800"/>
            </a:pPr>
            <a:r>
              <a:t>2️⃣ El coste de cada envío ya no es una sola cifra.</a:t>
            </a:r>
          </a:p>
          <a:p>
            <a:pPr>
              <a:spcAft>
                <a:spcPts val="200"/>
              </a:spcAft>
              <a:defRPr sz="1800"/>
            </a:pPr>
            <a:r>
              <a:t>3️⃣ Hay que decidir cómo se repercute en la oferta.</a:t>
            </a:r>
          </a:p>
          <a:p>
            <a:pPr>
              <a:spcAft>
                <a:spcPts val="200"/>
              </a:spcAft>
              <a:defRPr sz="1800"/>
            </a:pPr>
          </a:p>
          <a:p>
            <a:pPr>
              <a:spcAft>
                <a:spcPts val="200"/>
              </a:spcAft>
              <a:defRPr sz="1800"/>
            </a:pPr>
            <a:r>
              <a:t>No es solo un importe nuevo; es otra forma de calcular cada despacho.</a:t>
            </a:r>
          </a:p>
          <a:p>
            <a:pPr>
              <a:spcAft>
                <a:spcPts val="200"/>
              </a:spcAft>
              <a:defRPr sz="1800"/>
            </a:pPr>
          </a:p>
          <a:p>
            <a:pPr>
              <a:spcAft>
                <a:spcPts val="200"/>
              </a:spcAft>
              <a:defRPr sz="1800"/>
            </a:pPr>
            <a:r>
              <a:t>Fuente en el primer comentario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miércoles 21/10 · Cecilio Labrada</a:t>
            </a:r>
          </a:p>
          <a:p>
            <a:pPr>
              <a:defRPr sz="1300">
                <a:solidFill>
                  <a:srgbClr val="666666"/>
                </a:solidFill>
              </a:defRPr>
            </a:pPr>
            <a:r>
              <a:t>Pains · Pain 12 · formato: infografía</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[CIFRA FLETE] por contenedor de 40 pies. Es el último World Container Index de Drewry.</a:t>
            </a:r>
          </a:p>
          <a:p>
            <a:pPr>
              <a:spcAft>
                <a:spcPts val="200"/>
              </a:spcAft>
              <a:defRPr sz="1800"/>
            </a:pPr>
          </a:p>
          <a:p>
            <a:pPr>
              <a:spcAft>
                <a:spcPts val="200"/>
              </a:spcAft>
              <a:defRPr sz="1800"/>
            </a:pPr>
            <a:r>
              <a:t>El flete se mueve. Tu oferta, no.</a:t>
            </a:r>
          </a:p>
          <a:p>
            <a:pPr>
              <a:spcAft>
                <a:spcPts val="200"/>
              </a:spcAft>
              <a:defRPr sz="1800"/>
            </a:pPr>
          </a:p>
          <a:p>
            <a:pPr>
              <a:spcAft>
                <a:spcPts val="200"/>
              </a:spcAft>
              <a:defRPr sz="1800"/>
            </a:pPr>
            <a:r>
              <a:t>Pasa cada vez que el mercado cambia: el coste ya es otro, pero la cotización sigue con el de hace unos días. Y si las navieras consiguen la subida de FAK que intentan, sale sin repercutir. 💸</a:t>
            </a:r>
          </a:p>
          <a:p>
            <a:pPr>
              <a:spcAft>
                <a:spcPts val="200"/>
              </a:spcAft>
              <a:defRPr sz="1800"/>
            </a:pPr>
          </a:p>
          <a:p>
            <a:pPr>
              <a:spcAft>
                <a:spcPts val="200"/>
              </a:spcAft>
              <a:defRPr sz="1800"/>
            </a:pPr>
            <a:r>
              <a:t>El problema no es el mercado. El problema es actualizar tarifas a mano, una a una, en un Excel que nadie sabe si está al día. Sin contar el margen que se pierde por el camino.</a:t>
            </a:r>
          </a:p>
          <a:p>
            <a:pPr>
              <a:spcAft>
                <a:spcPts val="200"/>
              </a:spcAft>
              <a:defRPr sz="1800"/>
            </a:pPr>
          </a:p>
          <a:p>
            <a:pPr>
              <a:spcAft>
                <a:spcPts val="200"/>
              </a:spcAft>
              <a:defRPr sz="1800"/>
            </a:pPr>
            <a:r>
              <a:t>En Visual Trans trabajamos para que la cotización parta de costes actualizados, no de una hoja que hay que repasar.</a:t>
            </a:r>
          </a:p>
          <a:p>
            <a:pPr>
              <a:spcAft>
                <a:spcPts val="200"/>
              </a:spcAft>
              <a:defRPr sz="1800"/>
            </a:pPr>
          </a:p>
          <a:p>
            <a:pPr>
              <a:spcAft>
                <a:spcPts val="200"/>
              </a:spcAft>
              <a:defRPr sz="1800"/>
            </a:pPr>
            <a:r>
              <a:t>¿Cuánto tarda hoy una subida de coste en llegar a tus ofertas?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jueves 22/10 · Emma González</a:t>
            </a:r>
          </a:p>
          <a:p>
            <a:pPr>
              <a:defRPr sz="1300">
                <a:solidFill>
                  <a:srgbClr val="666666"/>
                </a:solidFill>
              </a:defRPr>
            </a:pPr>
            <a:r>
              <a:t>Tariff Code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[CÓDIGO A] vs. [CÓDIGO B]. [IMPORTE €] de diferencia en una freidora de aire.</a:t>
            </a:r>
          </a:p>
          <a:p>
            <a:pPr>
              <a:spcAft>
                <a:spcPts val="200"/>
              </a:spcAft>
              <a:defRPr sz="1800"/>
            </a:pPr>
          </a:p>
          <a:p>
            <a:pPr>
              <a:spcAft>
                <a:spcPts val="200"/>
              </a:spcAft>
              <a:defRPr sz="1800"/>
            </a:pPr>
            <a:r>
              <a:t>Sí, la que tienes en la cocina. Mismo producto, dos clasificaciones posibles según [CRITERIO: función / material / potencia].</a:t>
            </a:r>
          </a:p>
          <a:p>
            <a:pPr>
              <a:spcAft>
                <a:spcPts val="200"/>
              </a:spcAft>
              <a:defRPr sz="1800"/>
            </a:pPr>
          </a:p>
          <a:p>
            <a:pPr>
              <a:spcAft>
                <a:spcPts val="200"/>
              </a:spcAft>
              <a:defRPr sz="1800"/>
            </a:pPr>
            <a:r>
              <a:t>Una lleva [X %] de arancel. La otra, [Y %]. Sobre una partida de [VALOR €], eso son [IMPORTE €].</a:t>
            </a:r>
          </a:p>
          <a:p>
            <a:pPr>
              <a:spcAft>
                <a:spcPts val="200"/>
              </a:spcAft>
              <a:defRPr sz="1800"/>
            </a:pPr>
          </a:p>
          <a:p>
            <a:pPr>
              <a:spcAft>
                <a:spcPts val="200"/>
              </a:spcAft>
              <a:defRPr sz="1800"/>
            </a:pPr>
            <a:r>
              <a:t>Y lo peor de todo es que no se nota hasta que llega la liquidación.</a:t>
            </a:r>
          </a:p>
          <a:p>
            <a:pPr>
              <a:spcAft>
                <a:spcPts val="200"/>
              </a:spcAft>
              <a:defRPr sz="1800"/>
            </a:pPr>
          </a:p>
          <a:p>
            <a:pPr>
              <a:spcAft>
                <a:spcPts val="200"/>
              </a:spcAft>
              <a:defRPr sz="1800"/>
            </a:pPr>
            <a:r>
              <a:t>→ El código correcto</a:t>
            </a:r>
          </a:p>
          <a:p>
            <a:pPr>
              <a:spcAft>
                <a:spcPts val="200"/>
              </a:spcAft>
              <a:defRPr sz="1800"/>
            </a:pPr>
            <a:r>
              <a:t>→ El porqué de ese código</a:t>
            </a:r>
          </a:p>
          <a:p>
            <a:pPr>
              <a:spcAft>
                <a:spcPts val="200"/>
              </a:spcAft>
              <a:defRPr sz="1800"/>
            </a:pPr>
          </a:p>
          <a:p>
            <a:pPr>
              <a:spcAft>
                <a:spcPts val="200"/>
              </a:spcAft>
              <a:defRPr sz="1800"/>
            </a:pPr>
            <a:r>
              <a:t>Con Tariff Code lo ves en pocos segundos, antes de despachar.</a:t>
            </a:r>
          </a:p>
          <a:p>
            <a:pPr>
              <a:spcAft>
                <a:spcPts val="200"/>
              </a:spcAft>
              <a:defRPr sz="1800"/>
            </a:pPr>
          </a:p>
          <a:p>
            <a:pPr>
              <a:spcAft>
                <a:spcPts val="200"/>
              </a:spcAft>
              <a:defRPr sz="1800"/>
            </a:pPr>
            <a:r>
              <a:t>¿Cuál es el producto más raro que te ha tocado clasificar?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jueves 22/10 · Enrique Saa</a:t>
            </a:r>
          </a:p>
          <a:p>
            <a:pPr>
              <a:defRPr sz="1300">
                <a:solidFill>
                  <a:srgbClr val="666666"/>
                </a:solidFill>
              </a:defRPr>
            </a:pPr>
            <a:r>
              <a:t>Noticias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El 21 de septiembre de 2027 se aplica el nuevo Código Aduanero de la UE. ⏳</a:t>
            </a:r>
          </a:p>
          <a:p>
            <a:pPr>
              <a:spcAft>
                <a:spcPts val="200"/>
              </a:spcAft>
              <a:defRPr sz="1800"/>
            </a:pPr>
          </a:p>
          <a:p>
            <a:pPr>
              <a:spcAft>
                <a:spcPts val="200"/>
              </a:spcAft>
              <a:defRPr sz="1800"/>
            </a:pPr>
            <a:r>
              <a:t>Es el Reglamento (UE) 2026/2108, que deroga el 952/2013. Se publicó en el Diario Oficial de la UE el 19 de septiembre de 2026.</a:t>
            </a:r>
          </a:p>
          <a:p>
            <a:pPr>
              <a:spcAft>
                <a:spcPts val="200"/>
              </a:spcAft>
              <a:defRPr sz="1800"/>
            </a:pPr>
          </a:p>
          <a:p>
            <a:pPr>
              <a:spcAft>
                <a:spcPts val="200"/>
              </a:spcAft>
              <a:defRPr sz="1800"/>
            </a:pPr>
            <a:r>
              <a:t>Crea la Autoridad Aduanera de la UE, con sede en Lille, y un centro de datos común.</a:t>
            </a:r>
          </a:p>
          <a:p>
            <a:pPr>
              <a:spcAft>
                <a:spcPts val="200"/>
              </a:spcAft>
              <a:defRPr sz="1800"/>
            </a:pPr>
          </a:p>
          <a:p>
            <a:pPr>
              <a:spcAft>
                <a:spcPts val="200"/>
              </a:spcAft>
              <a:defRPr sz="1800"/>
            </a:pPr>
            <a:r>
              <a:t>Las ventas a distancia y la Autoridad llegan más tarde: 1 de julio de 2028.</a:t>
            </a:r>
          </a:p>
          <a:p>
            <a:pPr>
              <a:spcAft>
                <a:spcPts val="200"/>
              </a:spcAft>
              <a:defRPr sz="1800"/>
            </a:pPr>
          </a:p>
          <a:p>
            <a:pPr>
              <a:spcAft>
                <a:spcPts val="200"/>
              </a:spcAft>
              <a:defRPr sz="1800"/>
            </a:pPr>
            <a:r>
              <a:t>Son doce meses de adaptación para revisar procesos y herramientas.</a:t>
            </a:r>
          </a:p>
          <a:p>
            <a:pPr>
              <a:spcAft>
                <a:spcPts val="200"/>
              </a:spcAft>
              <a:defRPr sz="1800"/>
            </a:pPr>
          </a:p>
          <a:p>
            <a:pPr>
              <a:spcAft>
                <a:spcPts val="200"/>
              </a:spcAft>
              <a:defRPr sz="1800"/>
            </a:pPr>
            <a:r>
              <a:t>Doce meses pasan rápido. Para que no te pille el toro.</a:t>
            </a:r>
          </a:p>
          <a:p>
            <a:pPr>
              <a:spcAft>
                <a:spcPts val="200"/>
              </a:spcAft>
              <a:defRPr sz="1800"/>
            </a:pPr>
          </a:p>
          <a:p>
            <a:pPr>
              <a:spcAft>
                <a:spcPts val="200"/>
              </a:spcAft>
              <a:defRPr sz="1800"/>
            </a:pPr>
            <a:r>
              <a:t>👇 Te dejo la fuente en el primer comentario.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jueves 22/10 · Visual Trans (empresa)</a:t>
            </a:r>
          </a:p>
          <a:p>
            <a:pPr>
              <a:defRPr sz="1300">
                <a:solidFill>
                  <a:srgbClr val="666666"/>
                </a:solidFill>
              </a:defRPr>
            </a:pPr>
            <a:r>
              <a:t>Noticias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¿Cuánto tiempo pierde un agente cruzando información entre documentos?</a:t>
            </a:r>
          </a:p>
          <a:p>
            <a:pPr>
              <a:spcAft>
                <a:spcPts val="200"/>
              </a:spcAft>
              <a:defRPr sz="1800"/>
            </a:pPr>
          </a:p>
          <a:p>
            <a:pPr>
              <a:spcAft>
                <a:spcPts val="200"/>
              </a:spcAft>
              <a:defRPr sz="1800"/>
            </a:pPr>
            <a:r>
              <a:t>[CIFRA VERIFICADA: p. ej. X minutos por expediente / X horas a la semana, con fuente]. Es lo que se va en mirar la factura, el documento de transporte y el packing list para comprobar que todo cuadra.</a:t>
            </a:r>
          </a:p>
          <a:p>
            <a:pPr>
              <a:spcAft>
                <a:spcPts val="200"/>
              </a:spcAft>
              <a:defRPr sz="1800"/>
            </a:pPr>
          </a:p>
          <a:p>
            <a:pPr>
              <a:spcAft>
                <a:spcPts val="200"/>
              </a:spcAft>
              <a:defRPr sz="1800"/>
            </a:pPr>
            <a:r>
              <a:t>Y es un trabajo que no aporta criterio. Solo exige atención, una y otra vez.</a:t>
            </a:r>
          </a:p>
          <a:p>
            <a:pPr>
              <a:spcAft>
                <a:spcPts val="200"/>
              </a:spcAft>
              <a:defRPr sz="1800"/>
            </a:pPr>
          </a:p>
          <a:p>
            <a:pPr>
              <a:spcAft>
                <a:spcPts val="200"/>
              </a:spcAft>
              <a:defRPr sz="1800"/>
            </a:pPr>
            <a:r>
              <a:t>Ahí es donde la IA tiene sentido: hace la primera lectura, cruza los datos y avisa de lo que no encaja. La decisión sigue siendo de la persona.</a:t>
            </a:r>
          </a:p>
          <a:p>
            <a:pPr>
              <a:spcAft>
                <a:spcPts val="200"/>
              </a:spcAft>
              <a:defRPr sz="1800"/>
            </a:pPr>
          </a:p>
          <a:p>
            <a:pPr>
              <a:spcAft>
                <a:spcPts val="200"/>
              </a:spcAft>
              <a:defRPr sz="1800"/>
            </a:pPr>
            <a:r>
              <a:t>No es solo ahorrar minutos; es dedicarlos a lo que sí necesita a un profesional.</a:t>
            </a:r>
          </a:p>
          <a:p>
            <a:pPr>
              <a:spcAft>
                <a:spcPts val="200"/>
              </a:spcAft>
              <a:defRPr sz="1800"/>
            </a:pPr>
          </a:p>
          <a:p>
            <a:pPr>
              <a:spcAft>
                <a:spcPts val="200"/>
              </a:spcAft>
              <a:defRPr sz="1800"/>
            </a:pPr>
            <a:r>
              <a:t>¿Cuántas veces al día copias o comparas el mismo dato?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viernes 23/10 10:00 · Laura Díaz</a:t>
            </a:r>
          </a:p>
          <a:p>
            <a:pPr>
              <a:defRPr sz="1300">
                <a:solidFill>
                  <a:srgbClr val="666666"/>
                </a:solidFill>
              </a:defRPr>
            </a:pPr>
            <a:r>
              <a:t> · Pain — · formato: solo texto</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¿Sabes qué hizo tu equipo ayer? De verdad.</a:t>
            </a:r>
          </a:p>
          <a:p>
            <a:pPr>
              <a:spcAft>
                <a:spcPts val="200"/>
              </a:spcAft>
              <a:defRPr sz="1800"/>
            </a:pPr>
          </a:p>
          <a:p>
            <a:pPr>
              <a:spcAft>
                <a:spcPts val="200"/>
              </a:spcAft>
              <a:defRPr sz="1800"/>
            </a:pPr>
            <a:r>
              <a:t>No lo que te contaron. Lo que pasó.</a:t>
            </a:r>
          </a:p>
          <a:p>
            <a:pPr>
              <a:spcAft>
                <a:spcPts val="200"/>
              </a:spcAft>
              <a:defRPr sz="1800"/>
            </a:pPr>
          </a:p>
          <a:p>
            <a:pPr>
              <a:spcAft>
                <a:spcPts val="200"/>
              </a:spcAft>
              <a:defRPr sz="1800"/>
            </a:pPr>
            <a:r>
              <a:t>A mí me ha tocado enterarme por casualidad de que algo llevaba tres días parado. Tres. Y nadie lo había dicho porque todos pensaban que ya lo sabía otro.</a:t>
            </a:r>
          </a:p>
          <a:p>
            <a:pPr>
              <a:spcAft>
                <a:spcPts val="200"/>
              </a:spcAft>
              <a:defRPr sz="1800"/>
            </a:pPr>
          </a:p>
          <a:p>
            <a:pPr>
              <a:spcAft>
                <a:spcPts val="200"/>
              </a:spcAft>
              <a:defRPr sz="1800"/>
            </a:pPr>
            <a:r>
              <a:t>No era mala fe. Era que no había dónde mirarlo.</a:t>
            </a:r>
          </a:p>
          <a:p>
            <a:pPr>
              <a:spcAft>
                <a:spcPts val="200"/>
              </a:spcAft>
              <a:defRPr sz="1800"/>
            </a:pPr>
          </a:p>
          <a:p>
            <a:pPr>
              <a:spcAft>
                <a:spcPts val="200"/>
              </a:spcAft>
              <a:defRPr sz="1800"/>
            </a:pPr>
            <a:r>
              <a:t>Y ahí se te va el día, apagando fuegos que se podrían haber visto venir. Preguntando "¿cómo va lo de…?" y notando que molestas.</a:t>
            </a:r>
          </a:p>
          <a:p>
            <a:pPr>
              <a:spcAft>
                <a:spcPts val="200"/>
              </a:spcAft>
              <a:defRPr sz="1800"/>
            </a:pPr>
          </a:p>
          <a:p>
            <a:pPr>
              <a:spcAft>
                <a:spcPts val="200"/>
              </a:spcAft>
              <a:defRPr sz="1800"/>
            </a:pPr>
            <a:r>
              <a:t>No es desconfiar. Es poder ayudar a tiempo.</a:t>
            </a:r>
          </a:p>
          <a:p>
            <a:pPr>
              <a:spcAft>
                <a:spcPts val="200"/>
              </a:spcAft>
              <a:defRPr sz="1800"/>
            </a:pPr>
          </a:p>
          <a:p>
            <a:pPr>
              <a:spcAft>
                <a:spcPts val="200"/>
              </a:spcAft>
              <a:defRPr sz="1800"/>
            </a:pPr>
            <a:r>
              <a:t>¿Cuándo fue la última vez que te enteraste tarde de algo importante?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viernes 23/10 · Visual Trans (empresa)</a:t>
            </a:r>
          </a:p>
          <a:p>
            <a:pPr>
              <a:defRPr sz="1300">
                <a:solidFill>
                  <a:srgbClr val="666666"/>
                </a:solidFill>
              </a:defRPr>
            </a:pPr>
            <a:r>
              <a:t>Noticias · Pain — · formato: infografía</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1 de enero de 2026.</a:t>
            </a:r>
          </a:p>
          <a:p>
            <a:pPr>
              <a:spcAft>
                <a:spcPts val="200"/>
              </a:spcAft>
              <a:defRPr sz="1800"/>
            </a:pPr>
          </a:p>
          <a:p>
            <a:pPr>
              <a:spcAft>
                <a:spcPts val="200"/>
              </a:spcAft>
              <a:defRPr sz="1800"/>
            </a:pPr>
            <a:r>
              <a:t>Desde esa fecha, todas las fases de ICS2 son obligatorias. Y desde el 1 de junio el sistema se ha extendido a cinco países más: Polonia, Croacia, Letonia, Rumanía y Eslovaquia.</a:t>
            </a:r>
          </a:p>
          <a:p>
            <a:pPr>
              <a:spcAft>
                <a:spcPts val="200"/>
              </a:spcAft>
              <a:defRPr sz="1800"/>
            </a:pPr>
          </a:p>
          <a:p>
            <a:pPr>
              <a:spcAft>
                <a:spcPts val="200"/>
              </a:spcAft>
              <a:defRPr sz="1800"/>
            </a:pPr>
            <a:r>
              <a:t>No es una novedad de este mes. Es una obligación que ya está en marcha, y por eso conviene revisarla con calma.</a:t>
            </a:r>
          </a:p>
          <a:p>
            <a:pPr>
              <a:spcAft>
                <a:spcPts val="200"/>
              </a:spcAft>
              <a:defRPr sz="1800"/>
            </a:pPr>
          </a:p>
          <a:p>
            <a:pPr>
              <a:spcAft>
                <a:spcPts val="200"/>
              </a:spcAft>
              <a:defRPr sz="1800"/>
            </a:pPr>
            <a:r>
              <a:t>Qué mirar en tu operativa:</a:t>
            </a:r>
          </a:p>
          <a:p>
            <a:pPr>
              <a:spcAft>
                <a:spcPts val="200"/>
              </a:spcAft>
              <a:defRPr sz="1800"/>
            </a:pPr>
          </a:p>
          <a:p>
            <a:pPr>
              <a:spcAft>
                <a:spcPts val="200"/>
              </a:spcAft>
              <a:defRPr sz="1800"/>
            </a:pPr>
            <a:r>
              <a:t>✅ Que los datos de cada envío estén completos antes de que salga.</a:t>
            </a:r>
          </a:p>
          <a:p>
            <a:pPr>
              <a:spcAft>
                <a:spcPts val="200"/>
              </a:spcAft>
              <a:defRPr sz="1800"/>
            </a:pPr>
            <a:r>
              <a:t>✅ Si tus envíos pasan por alguno de esos cinco países.</a:t>
            </a:r>
          </a:p>
          <a:p>
            <a:pPr>
              <a:spcAft>
                <a:spcPts val="200"/>
              </a:spcAft>
              <a:defRPr sz="1800"/>
            </a:pPr>
            <a:r>
              <a:t>✅ Que tu software esté al día con cada fase.</a:t>
            </a:r>
          </a:p>
          <a:p>
            <a:pPr>
              <a:spcAft>
                <a:spcPts val="200"/>
              </a:spcAft>
              <a:defRPr sz="1800"/>
            </a:pPr>
          </a:p>
          <a:p>
            <a:pPr>
              <a:spcAft>
                <a:spcPts val="200"/>
              </a:spcAft>
              <a:defRPr sz="1800"/>
            </a:pPr>
            <a:r>
              <a:t>No es solo cumplir; es no enterarse de los problemas en frontera.</a:t>
            </a:r>
          </a:p>
          <a:p>
            <a:pPr>
              <a:spcAft>
                <a:spcPts val="200"/>
              </a:spcAft>
              <a:defRPr sz="1800"/>
            </a:pPr>
          </a:p>
          <a:p>
            <a:pPr>
              <a:spcAft>
                <a:spcPts val="200"/>
              </a:spcAft>
              <a:defRPr sz="1800"/>
            </a:pPr>
            <a:r>
              <a:t>Fuente en el primer comentario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viernes 23/10 · Cecilio Labrada</a:t>
            </a:r>
          </a:p>
          <a:p>
            <a:pPr>
              <a:defRPr sz="1300">
                <a:solidFill>
                  <a:srgbClr val="666666"/>
                </a:solidFill>
              </a:defRPr>
            </a:pPr>
            <a:r>
              <a:t>Noticias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1 de noviembre. Es la fecha prevista para la tasa por paquete de bajo valor en e-commerce.</a:t>
            </a:r>
          </a:p>
          <a:p>
            <a:pPr>
              <a:spcAft>
                <a:spcPts val="200"/>
              </a:spcAft>
              <a:defRPr sz="1800"/>
            </a:pPr>
          </a:p>
          <a:p>
            <a:pPr>
              <a:spcAft>
                <a:spcPts val="200"/>
              </a:spcAft>
              <a:defRPr sz="1800"/>
            </a:pPr>
            <a:r>
              <a:t>[IMPORTE TASA] por paquete. Parece poco. Hasta que lo multiplicas por el volumen de un mes.</a:t>
            </a:r>
          </a:p>
          <a:p>
            <a:pPr>
              <a:spcAft>
                <a:spcPts val="200"/>
              </a:spcAft>
              <a:defRPr sz="1800"/>
            </a:pPr>
          </a:p>
          <a:p>
            <a:pPr>
              <a:spcAft>
                <a:spcPts val="200"/>
              </a:spcAft>
              <a:defRPr sz="1800"/>
            </a:pPr>
            <a:r>
              <a:t>Pero el problema no es la tasa. El problema es cotizar hoy sin decidir dónde se repercute. Si no aparece como concepto propio en la oferta, la absorbes tú. Sin contar un margen que ya venía justo.</a:t>
            </a:r>
          </a:p>
          <a:p>
            <a:pPr>
              <a:spcAft>
                <a:spcPts val="200"/>
              </a:spcAft>
              <a:defRPr sz="1800"/>
            </a:pPr>
          </a:p>
          <a:p>
            <a:pPr>
              <a:spcAft>
                <a:spcPts val="200"/>
              </a:spcAft>
              <a:defRPr sz="1800"/>
            </a:pPr>
            <a:r>
              <a:t>Antes de que llegue, revisa tres cosas:</a:t>
            </a:r>
          </a:p>
          <a:p>
            <a:pPr>
              <a:spcAft>
                <a:spcPts val="200"/>
              </a:spcAft>
              <a:defRPr sz="1800"/>
            </a:pPr>
          </a:p>
          <a:p>
            <a:pPr>
              <a:spcAft>
                <a:spcPts val="200"/>
              </a:spcAft>
              <a:defRPr sz="1800"/>
            </a:pPr>
            <a:r>
              <a:t>1️⃣ ¿Va como línea separada en tu cotización?</a:t>
            </a:r>
          </a:p>
          <a:p>
            <a:pPr>
              <a:spcAft>
                <a:spcPts val="200"/>
              </a:spcAft>
              <a:defRPr sz="1800"/>
            </a:pPr>
            <a:r>
              <a:t>2️⃣ ¿La aplicas por envío o por lote?</a:t>
            </a:r>
          </a:p>
          <a:p>
            <a:pPr>
              <a:spcAft>
                <a:spcPts val="200"/>
              </a:spcAft>
              <a:defRPr sz="1800"/>
            </a:pPr>
            <a:r>
              <a:t>3️⃣ ¿Qué cliente la asume y cuál no?</a:t>
            </a:r>
          </a:p>
          <a:p>
            <a:pPr>
              <a:spcAft>
                <a:spcPts val="200"/>
              </a:spcAft>
              <a:defRPr sz="1800"/>
            </a:pPr>
          </a:p>
          <a:p>
            <a:pPr>
              <a:spcAft>
                <a:spcPts val="200"/>
              </a:spcAft>
              <a:defRPr sz="1800"/>
            </a:pPr>
            <a:r>
              <a:t>Os dejo la fuente en el primer comentario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lunes 26/10 · Emma González</a:t>
            </a:r>
          </a:p>
          <a:p>
            <a:pPr>
              <a:defRPr sz="1300">
                <a:solidFill>
                  <a:srgbClr val="666666"/>
                </a:solidFill>
              </a:defRPr>
            </a:pPr>
            <a:r>
              <a:t>Noticias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Doce meses de adaptación. Eso es lo que da el nuevo Código Aduanero de la UE.</a:t>
            </a:r>
          </a:p>
          <a:p>
            <a:pPr>
              <a:spcAft>
                <a:spcPts val="200"/>
              </a:spcAft>
              <a:defRPr sz="1800"/>
            </a:pPr>
          </a:p>
          <a:p>
            <a:pPr>
              <a:spcAft>
                <a:spcPts val="200"/>
              </a:spcAft>
              <a:defRPr sz="1800"/>
            </a:pPr>
            <a:r>
              <a:t>El Reglamento (UE) 2026/2108 se publicó en el Diario Oficial el 19 de septiembre y sustituye al Reglamento 952/2013. Crea la Autoridad Aduanera de la UE, con sede en Lille, y un centro de datos común.</a:t>
            </a:r>
          </a:p>
          <a:p>
            <a:pPr>
              <a:spcAft>
                <a:spcPts val="200"/>
              </a:spcAft>
              <a:defRPr sz="1800"/>
            </a:pPr>
          </a:p>
          <a:p>
            <a:pPr>
              <a:spcAft>
                <a:spcPts val="200"/>
              </a:spcAft>
              <a:defRPr sz="1800"/>
            </a:pPr>
            <a:r>
              <a:t>Para el agente de aduanas, esto va más allá de la norma. Se trata de tener los datos ordenados para cuando toque compartirlos.</a:t>
            </a:r>
          </a:p>
          <a:p>
            <a:pPr>
              <a:spcAft>
                <a:spcPts val="200"/>
              </a:spcAft>
              <a:defRPr sz="1800"/>
            </a:pPr>
          </a:p>
          <a:p>
            <a:pPr>
              <a:spcAft>
                <a:spcPts val="200"/>
              </a:spcAft>
              <a:defRPr sz="1800"/>
            </a:pPr>
            <a:r>
              <a:t>1️⃣ Qué datos tecleas hoy más de una vez</a:t>
            </a:r>
          </a:p>
          <a:p>
            <a:pPr>
              <a:spcAft>
                <a:spcPts val="200"/>
              </a:spcAft>
              <a:defRPr sz="1800"/>
            </a:pPr>
            <a:r>
              <a:t>2️⃣ Qué parte de tu operativa depende de la memoria de alguien</a:t>
            </a:r>
          </a:p>
          <a:p>
            <a:pPr>
              <a:spcAft>
                <a:spcPts val="200"/>
              </a:spcAft>
              <a:defRPr sz="1800"/>
            </a:pPr>
            <a:r>
              <a:t>3️⃣ Qué calendario maneja tu proveedor de software</a:t>
            </a:r>
          </a:p>
          <a:p>
            <a:pPr>
              <a:spcAft>
                <a:spcPts val="200"/>
              </a:spcAft>
              <a:defRPr sz="1800"/>
            </a:pPr>
          </a:p>
          <a:p>
            <a:pPr>
              <a:spcAft>
                <a:spcPts val="200"/>
              </a:spcAft>
              <a:defRPr sz="1800"/>
            </a:pPr>
            <a:r>
              <a:t>Doce meses parecen muchos. No lo son.</a:t>
            </a:r>
          </a:p>
          <a:p>
            <a:pPr>
              <a:spcAft>
                <a:spcPts val="200"/>
              </a:spcAft>
              <a:defRPr sz="1800"/>
            </a:pPr>
          </a:p>
          <a:p>
            <a:pPr>
              <a:spcAft>
                <a:spcPts val="200"/>
              </a:spcAft>
              <a:defRPr sz="1800"/>
            </a:pPr>
            <a:r>
              <a:t>¿Por cuál de las tres empezarías tú? Fuente en el primer comentario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lunes 26/10 · Enrique Saa</a:t>
            </a:r>
          </a:p>
          <a:p>
            <a:pPr>
              <a:defRPr sz="1300">
                <a:solidFill>
                  <a:srgbClr val="666666"/>
                </a:solidFill>
              </a:defRPr>
            </a:pPr>
            <a:r>
              <a:t>Noticias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La IA puede proponerte un código arancelario. No puede responder por él.</a:t>
            </a:r>
          </a:p>
          <a:p>
            <a:pPr>
              <a:spcAft>
                <a:spcPts val="200"/>
              </a:spcAft>
              <a:defRPr sz="1800"/>
            </a:pPr>
          </a:p>
          <a:p>
            <a:pPr>
              <a:spcAft>
                <a:spcPts val="200"/>
              </a:spcAft>
              <a:defRPr sz="1800"/>
            </a:pPr>
            <a:r>
              <a:t>Sirve para ganar tiempo, y mucho. Pero conviene tener claro hasta dónde llega.</a:t>
            </a:r>
          </a:p>
          <a:p>
            <a:pPr>
              <a:spcAft>
                <a:spcPts val="200"/>
              </a:spcAft>
              <a:defRPr sz="1800"/>
            </a:pPr>
          </a:p>
          <a:p>
            <a:pPr>
              <a:spcAft>
                <a:spcPts val="200"/>
              </a:spcAft>
              <a:defRPr sz="1800"/>
            </a:pPr>
            <a:r>
              <a:t>✔️ Propone candidatos en segundos.</a:t>
            </a:r>
          </a:p>
          <a:p>
            <a:pPr>
              <a:spcAft>
                <a:spcPts val="200"/>
              </a:spcAft>
              <a:defRPr sz="1800"/>
            </a:pPr>
            <a:r>
              <a:t>✔️ Cruza la descripción del producto con la nomenclatura.</a:t>
            </a:r>
          </a:p>
          <a:p>
            <a:pPr>
              <a:spcAft>
                <a:spcPts val="200"/>
              </a:spcAft>
              <a:defRPr sz="1800"/>
            </a:pPr>
            <a:r>
              <a:t>✔️ Te ahorra la búsqueda manual.</a:t>
            </a:r>
          </a:p>
          <a:p>
            <a:pPr>
              <a:spcAft>
                <a:spcPts val="200"/>
              </a:spcAft>
              <a:defRPr sz="1800"/>
            </a:pPr>
          </a:p>
          <a:p>
            <a:pPr>
              <a:spcAft>
                <a:spcPts val="200"/>
              </a:spcAft>
              <a:defRPr sz="1800"/>
            </a:pPr>
            <a:r>
              <a:t>Lo que no hace es asumir la responsabilidad ante la aduana. Y un código sin justificación ni referencias que puedas revisar es solo una opinión.</a:t>
            </a:r>
          </a:p>
          <a:p>
            <a:pPr>
              <a:spcAft>
                <a:spcPts val="200"/>
              </a:spcAft>
              <a:defRPr sz="1800"/>
            </a:pPr>
          </a:p>
          <a:p>
            <a:pPr>
              <a:spcAft>
                <a:spcPts val="200"/>
              </a:spcAft>
              <a:defRPr sz="1800"/>
            </a:pPr>
            <a:r>
              <a:t>Por eso la IA propone y tú decides, con el porqué delante.</a:t>
            </a:r>
          </a:p>
          <a:p>
            <a:pPr>
              <a:spcAft>
                <a:spcPts val="200"/>
              </a:spcAft>
              <a:defRPr sz="1800"/>
            </a:pPr>
          </a:p>
          <a:p>
            <a:pPr>
              <a:spcAft>
                <a:spcPts val="200"/>
              </a:spcAft>
              <a:defRPr sz="1800"/>
            </a:pPr>
            <a:r>
              <a:t>Iremos al grano: clasificar sigue siendo una decisión profesional.</a:t>
            </a:r>
          </a:p>
          <a:p>
            <a:pPr>
              <a:spcAft>
                <a:spcPts val="200"/>
              </a:spcAft>
              <a:defRPr sz="1800"/>
            </a:pPr>
          </a:p>
          <a:p>
            <a:pPr>
              <a:spcAft>
                <a:spcPts val="200"/>
              </a:spcAft>
              <a:defRPr sz="1800"/>
            </a:pPr>
            <a:r>
              <a:t>👇 Te dejo [ENLACE] en el primer comentario.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lunes 26/10 · Visual Trans (empresa)</a:t>
            </a:r>
          </a:p>
          <a:p>
            <a:pPr>
              <a:defRPr sz="1300">
                <a:solidFill>
                  <a:srgbClr val="666666"/>
                </a:solidFill>
              </a:defRPr>
            </a:pPr>
            <a:r>
              <a:t>Tariff Code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[DIFERENCIA] € de diferencia por un solo producto: [PRODUCTO A, cotidiano y verificable].</a:t>
            </a:r>
          </a:p>
          <a:p>
            <a:pPr>
              <a:spcAft>
                <a:spcPts val="200"/>
              </a:spcAft>
              <a:defRPr sz="1800"/>
            </a:pPr>
          </a:p>
          <a:p>
            <a:pPr>
              <a:spcAft>
                <a:spcPts val="200"/>
              </a:spcAft>
              <a:defRPr sz="1800"/>
            </a:pPr>
            <a:r>
              <a:t>Según cómo se describa, puede ir por el código [CÓDIGO A] o por el [CÓDIGO B]. Con [ARANCEL A] % en un caso y [ARANCEL B] % en el otro, sobre una mercancía de [VALOR €], la diferencia es [DIFERENCIA] €.</a:t>
            </a:r>
          </a:p>
          <a:p>
            <a:pPr>
              <a:spcAft>
                <a:spcPts val="200"/>
              </a:spcAft>
              <a:defRPr sz="1800"/>
            </a:pPr>
          </a:p>
          <a:p>
            <a:pPr>
              <a:spcAft>
                <a:spcPts val="200"/>
              </a:spcAft>
              <a:defRPr sz="1800"/>
            </a:pPr>
            <a:r>
              <a:t>Con Tariff Code se hace en tres pasos:</a:t>
            </a:r>
          </a:p>
          <a:p>
            <a:pPr>
              <a:spcAft>
                <a:spcPts val="200"/>
              </a:spcAft>
              <a:defRPr sz="1800"/>
            </a:pPr>
          </a:p>
          <a:p>
            <a:pPr>
              <a:spcAft>
                <a:spcPts val="200"/>
              </a:spcAft>
              <a:defRPr sz="1800"/>
            </a:pPr>
            <a:r>
              <a:t>1️⃣ Escribes la descripción del producto.</a:t>
            </a:r>
          </a:p>
          <a:p>
            <a:pPr>
              <a:spcAft>
                <a:spcPts val="200"/>
              </a:spcAft>
              <a:defRPr sz="1800"/>
            </a:pPr>
            <a:r>
              <a:t>2️⃣ Obtienes el código.</a:t>
            </a:r>
          </a:p>
          <a:p>
            <a:pPr>
              <a:spcAft>
                <a:spcPts val="200"/>
              </a:spcAft>
              <a:defRPr sz="1800"/>
            </a:pPr>
            <a:r>
              <a:t>3️⃣ Ves la justificación de por qué es ese y no otro.</a:t>
            </a:r>
          </a:p>
          <a:p>
            <a:pPr>
              <a:spcAft>
                <a:spcPts val="200"/>
              </a:spcAft>
              <a:defRPr sz="1800"/>
            </a:pPr>
          </a:p>
          <a:p>
            <a:pPr>
              <a:spcAft>
                <a:spcPts val="200"/>
              </a:spcAft>
              <a:defRPr sz="1800"/>
            </a:pPr>
            <a:r>
              <a:t>No es solo encontrar un código; es poder defenderlo.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martes 27/10 10:00 · Laura Díaz</a:t>
            </a:r>
          </a:p>
          <a:p>
            <a:pPr>
              <a:defRPr sz="1300">
                <a:solidFill>
                  <a:srgbClr val="666666"/>
                </a:solidFill>
              </a:defRPr>
            </a:pPr>
            <a:r>
              <a:t> · Pain — · formato: solo texto</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Me volví loca buscando un código arancelario que juraría haberme sabido.</a:t>
            </a:r>
          </a:p>
          <a:p>
            <a:pPr>
              <a:spcAft>
                <a:spcPts val="200"/>
              </a:spcAft>
              <a:defRPr sz="1800"/>
            </a:pPr>
          </a:p>
          <a:p>
            <a:pPr>
              <a:spcAft>
                <a:spcPts val="200"/>
              </a:spcAft>
              <a:defRPr sz="1800"/>
            </a:pPr>
            <a:r>
              <a:t>Lo tenía clarísimo. Lo había usado mil veces. Y resulta que ya no era ese.</a:t>
            </a:r>
          </a:p>
          <a:p>
            <a:pPr>
              <a:spcAft>
                <a:spcPts val="200"/>
              </a:spcAft>
              <a:defRPr sz="1800"/>
            </a:pPr>
          </a:p>
          <a:p>
            <a:pPr>
              <a:spcAft>
                <a:spcPts val="200"/>
              </a:spcAft>
              <a:defRPr sz="1800"/>
            </a:pPr>
            <a:r>
              <a:t>Un arancel no se memoriza. Cambia, se actualiza, se corrige. Quien dice que lo lleva de cabeza, o miente o tiene suerte, que algún día se le acaba.</a:t>
            </a:r>
          </a:p>
          <a:p>
            <a:pPr>
              <a:spcAft>
                <a:spcPts val="200"/>
              </a:spcAft>
              <a:defRPr sz="1800"/>
            </a:pPr>
          </a:p>
          <a:p>
            <a:pPr>
              <a:spcAft>
                <a:spcPts val="200"/>
              </a:spcAft>
              <a:defRPr sz="1800"/>
            </a:pPr>
            <a:r>
              <a:t>Me pasó y me dio rabia. Rabia conmigo, por fiarme. Y rabia con todo esto, por pensar que se puede ir tirando de memoria.</a:t>
            </a:r>
          </a:p>
          <a:p>
            <a:pPr>
              <a:spcAft>
                <a:spcPts val="200"/>
              </a:spcAft>
              <a:defRPr sz="1800"/>
            </a:pPr>
          </a:p>
          <a:p>
            <a:pPr>
              <a:spcAft>
                <a:spcPts val="200"/>
              </a:spcAft>
              <a:defRPr sz="1800"/>
            </a:pPr>
            <a:r>
              <a:t>Ahora lo miro siempre. Aunque lo sepa. Sobre todo si lo sé.</a:t>
            </a:r>
          </a:p>
          <a:p>
            <a:pPr>
              <a:spcAft>
                <a:spcPts val="200"/>
              </a:spcAft>
              <a:defRPr sz="1800"/>
            </a:pPr>
          </a:p>
          <a:p>
            <a:pPr>
              <a:spcAft>
                <a:spcPts val="200"/>
              </a:spcAft>
              <a:defRPr sz="1800"/>
            </a:pPr>
            <a:r>
              <a:t>¿Y tú, de qué te fías todavía de memoria?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martes 27/10 · Visual Trans (empresa)</a:t>
            </a:r>
          </a:p>
          <a:p>
            <a:pPr>
              <a:defRPr sz="1300">
                <a:solidFill>
                  <a:srgbClr val="666666"/>
                </a:solidFill>
              </a:defRPr>
            </a:pPr>
            <a:r>
              <a:t>Noticias · Pain — · formato: carrusel</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30 de septiembre de 2027.</a:t>
            </a:r>
          </a:p>
          <a:p>
            <a:pPr>
              <a:spcAft>
                <a:spcPts val="200"/>
              </a:spcAft>
              <a:defRPr sz="1800"/>
            </a:pPr>
          </a:p>
          <a:p>
            <a:pPr>
              <a:spcAft>
                <a:spcPts val="200"/>
              </a:spcAft>
              <a:defRPr sz="1800"/>
            </a:pPr>
            <a:r>
              <a:t>Es el vencimiento de la primera declaración anual de CBAM, con las importaciones de este año.</a:t>
            </a:r>
          </a:p>
          <a:p>
            <a:pPr>
              <a:spcAft>
                <a:spcPts val="200"/>
              </a:spcAft>
              <a:defRPr sz="1800"/>
            </a:pPr>
          </a:p>
          <a:p>
            <a:pPr>
              <a:spcAft>
                <a:spcPts val="200"/>
              </a:spcAft>
              <a:defRPr sz="1800"/>
            </a:pPr>
            <a:r>
              <a:t>Qué ha cambiado:</a:t>
            </a:r>
          </a:p>
          <a:p>
            <a:pPr>
              <a:spcAft>
                <a:spcPts val="200"/>
              </a:spcAft>
              <a:defRPr sz="1800"/>
            </a:pPr>
          </a:p>
          <a:p>
            <a:pPr>
              <a:spcAft>
                <a:spcPts val="200"/>
              </a:spcAft>
              <a:defRPr sz="1800"/>
            </a:pPr>
            <a:r>
              <a:t>1️⃣ CBAM es definitivo desde el 1 de enero de 2026.</a:t>
            </a:r>
          </a:p>
          <a:p>
            <a:pPr>
              <a:spcAft>
                <a:spcPts val="200"/>
              </a:spcAft>
              <a:defRPr sz="1800"/>
            </a:pPr>
            <a:r>
              <a:t>2️⃣ Los certificados se compran desde febrero de 2027.</a:t>
            </a:r>
          </a:p>
          <a:p>
            <a:pPr>
              <a:spcAft>
                <a:spcPts val="200"/>
              </a:spcAft>
              <a:defRPr sz="1800"/>
            </a:pPr>
            <a:r>
              <a:t>3️⃣ El coste de 2026 es retroactivo.</a:t>
            </a:r>
          </a:p>
          <a:p>
            <a:pPr>
              <a:spcAft>
                <a:spcPts val="200"/>
              </a:spcAft>
              <a:defRPr sz="1800"/>
            </a:pPr>
          </a:p>
          <a:p>
            <a:pPr>
              <a:spcAft>
                <a:spcPts val="200"/>
              </a:spcAft>
              <a:defRPr sz="1800"/>
            </a:pPr>
            <a:r>
              <a:t>A quién afecta: a quien importa mercancías del Anexo I (acero, aluminio, cemento, fertilizantes, entre otras) y a su representante aduanero.</a:t>
            </a:r>
          </a:p>
          <a:p>
            <a:pPr>
              <a:spcAft>
                <a:spcPts val="200"/>
              </a:spcAft>
              <a:defRPr sz="1800"/>
            </a:pPr>
          </a:p>
          <a:p>
            <a:pPr>
              <a:spcAft>
                <a:spcPts val="200"/>
              </a:spcAft>
              <a:defRPr sz="1800"/>
            </a:pPr>
            <a:r>
              <a:t>Y no hace falta esperar a 2027. Lo que se importa hoy es lo que se declarará entonces.</a:t>
            </a:r>
          </a:p>
          <a:p>
            <a:pPr>
              <a:spcAft>
                <a:spcPts val="200"/>
              </a:spcAft>
              <a:defRPr sz="1800"/>
            </a:pPr>
          </a:p>
          <a:p>
            <a:pPr>
              <a:spcAft>
                <a:spcPts val="200"/>
              </a:spcAft>
              <a:defRPr sz="1800"/>
            </a:pPr>
            <a:r>
              <a:t>No es solo un trámite futuro; es una cuenta que ya corre.</a:t>
            </a:r>
          </a:p>
          <a:p>
            <a:pPr>
              <a:spcAft>
                <a:spcPts val="200"/>
              </a:spcAft>
              <a:defRPr sz="1800"/>
            </a:pPr>
          </a:p>
          <a:p>
            <a:pPr>
              <a:spcAft>
                <a:spcPts val="200"/>
              </a:spcAft>
              <a:defRPr sz="1800"/>
            </a:pPr>
            <a:r>
              <a:t>Fuente en el primer comentario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martes 27/10 · Cecilio Labrada</a:t>
            </a:r>
          </a:p>
          <a:p>
            <a:pPr>
              <a:defRPr sz="1300">
                <a:solidFill>
                  <a:srgbClr val="666666"/>
                </a:solidFill>
              </a:defRPr>
            </a:pPr>
            <a:r>
              <a:t>Pains · Pain 11 · formato: infografía</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20, 13 y 6 céntimos por litro. Es la rebaja del Impuesto sobre Hidrocarburos prevista para octubre, noviembre y diciembre, según la prórroga de ayudas al combustible.</a:t>
            </a:r>
          </a:p>
          <a:p>
            <a:pPr>
              <a:spcAft>
                <a:spcPts val="200"/>
              </a:spcAft>
              <a:defRPr sz="1800"/>
            </a:pPr>
          </a:p>
          <a:p>
            <a:pPr>
              <a:spcAft>
                <a:spcPts val="200"/>
              </a:spcAft>
              <a:defRPr sz="1800"/>
            </a:pPr>
            <a:r>
              <a:t>Un coste que baja cada mes. Y una cotización que sigue igual.</a:t>
            </a:r>
          </a:p>
          <a:p>
            <a:pPr>
              <a:spcAft>
                <a:spcPts val="200"/>
              </a:spcAft>
              <a:defRPr sz="1800"/>
            </a:pPr>
          </a:p>
          <a:p>
            <a:pPr>
              <a:spcAft>
                <a:spcPts val="200"/>
              </a:spcAft>
              <a:defRPr sz="1800"/>
            </a:pPr>
            <a:r>
              <a:t>Ese es el problema de cotizar a ciegas: el coste del tramo de carretera que calculaste el lunes no es el que pagas cuando el envío ya salió. Las pequeñas diferencias se acumulan. Sin contar las operaciones que ni siquiera se cotizan por falta de tiempo. 🚩</a:t>
            </a:r>
          </a:p>
          <a:p>
            <a:pPr>
              <a:spcAft>
                <a:spcPts val="200"/>
              </a:spcAft>
              <a:defRPr sz="1800"/>
            </a:pPr>
          </a:p>
          <a:p>
            <a:pPr>
              <a:spcAft>
                <a:spcPts val="200"/>
              </a:spcAft>
              <a:defRPr sz="1800"/>
            </a:pPr>
            <a:r>
              <a:t>No se trata solo de poner precio, sino de ver el coste real y el margen mientras la oferta sigue en la mesa.</a:t>
            </a:r>
          </a:p>
          <a:p>
            <a:pPr>
              <a:spcAft>
                <a:spcPts val="200"/>
              </a:spcAft>
              <a:defRPr sz="1800"/>
            </a:pPr>
          </a:p>
          <a:p>
            <a:pPr>
              <a:spcAft>
                <a:spcPts val="200"/>
              </a:spcAft>
              <a:defRPr sz="1800"/>
            </a:pPr>
            <a:r>
              <a:t>Porque al final, el sobrecoste que descubres después ya no se puede repercutir.</a:t>
            </a:r>
          </a:p>
          <a:p>
            <a:pPr>
              <a:spcAft>
                <a:spcPts val="200"/>
              </a:spcAft>
              <a:defRPr sz="1800"/>
            </a:pPr>
          </a:p>
          <a:p>
            <a:pPr>
              <a:spcAft>
                <a:spcPts val="200"/>
              </a:spcAft>
              <a:defRPr sz="1800"/>
            </a:pPr>
            <a:r>
              <a:t>La fuente, en el primer comentario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miércoles 28/10 · Emma González</a:t>
            </a:r>
          </a:p>
          <a:p>
            <a:pPr>
              <a:defRPr sz="1300">
                <a:solidFill>
                  <a:srgbClr val="666666"/>
                </a:solidFill>
              </a:defRPr>
            </a:pPr>
            <a:r>
              <a:t>Pains · Pain 4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Un dato. Tres sitios distintos.</a:t>
            </a:r>
          </a:p>
          <a:p>
            <a:pPr>
              <a:spcAft>
                <a:spcPts val="200"/>
              </a:spcAft>
              <a:defRPr sz="1800"/>
            </a:pPr>
          </a:p>
          <a:p>
            <a:pPr>
              <a:spcAft>
                <a:spcPts val="200"/>
              </a:spcAft>
              <a:defRPr sz="1800"/>
            </a:pPr>
            <a:r>
              <a:t>El mismo NIF, la misma mercancía, el mismo importe: en la cotización, en el expediente y en la factura. Cada uno en su sistema, cada uno a mano.</a:t>
            </a:r>
          </a:p>
          <a:p>
            <a:pPr>
              <a:spcAft>
                <a:spcPts val="200"/>
              </a:spcAft>
              <a:defRPr sz="1800"/>
            </a:pPr>
          </a:p>
          <a:p>
            <a:pPr>
              <a:spcAft>
                <a:spcPts val="200"/>
              </a:spcAft>
              <a:defRPr sz="1800"/>
            </a:pPr>
            <a:r>
              <a:t>Según lo que he visto en el día a día, copiar así se lleva [MINUTOS POR EXPEDIENTE] por expediente. Con [N EXPEDIENTES AL MES], son [HORAS AL MES] perdidas.</a:t>
            </a:r>
          </a:p>
          <a:p>
            <a:pPr>
              <a:spcAft>
                <a:spcPts val="200"/>
              </a:spcAft>
              <a:defRPr sz="1800"/>
            </a:pPr>
          </a:p>
          <a:p>
            <a:pPr>
              <a:spcAft>
                <a:spcPts val="200"/>
              </a:spcAft>
              <a:defRPr sz="1800"/>
            </a:pPr>
            <a:r>
              <a:t>Eso no es solo tiempo. Es el caldo de cultivo perfecto para el error.</a:t>
            </a:r>
          </a:p>
          <a:p>
            <a:pPr>
              <a:spcAft>
                <a:spcPts val="200"/>
              </a:spcAft>
              <a:defRPr sz="1800"/>
            </a:pPr>
          </a:p>
          <a:p>
            <a:pPr>
              <a:spcAft>
                <a:spcPts val="200"/>
              </a:spcAft>
              <a:defRPr sz="1800"/>
            </a:pPr>
            <a:r>
              <a:t>Una errata en el segundo sitio y el tercero ya sale mal.</a:t>
            </a:r>
          </a:p>
          <a:p>
            <a:pPr>
              <a:spcAft>
                <a:spcPts val="200"/>
              </a:spcAft>
              <a:defRPr sz="1800"/>
            </a:pPr>
          </a:p>
          <a:p>
            <a:pPr>
              <a:spcAft>
                <a:spcPts val="200"/>
              </a:spcAft>
              <a:defRPr sz="1800"/>
            </a:pPr>
            <a:r>
              <a:t>¿Cuántas veces has tecleado hoy el mismo dato?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miércoles 28/10 · Enrique Saa</a:t>
            </a:r>
          </a:p>
          <a:p>
            <a:pPr>
              <a:defRPr sz="1300">
                <a:solidFill>
                  <a:srgbClr val="666666"/>
                </a:solidFill>
              </a:defRPr>
            </a:pPr>
            <a:r>
              <a:t>Pains · Pain 8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Entre [CÓDIGO A] y [CÓDIGO B] hay un [X %] de arancel. Y el producto es el mismo.</a:t>
            </a:r>
          </a:p>
          <a:p>
            <a:pPr>
              <a:spcAft>
                <a:spcPts val="200"/>
              </a:spcAft>
              <a:defRPr sz="1800"/>
            </a:pPr>
          </a:p>
          <a:p>
            <a:pPr>
              <a:spcAft>
                <a:spcPts val="200"/>
              </a:spcAft>
              <a:defRPr sz="1800"/>
            </a:pPr>
            <a:r>
              <a:t>Javier importa pulseras de actividad. Según cómo las describa, puede acabar en un código o en otro.</a:t>
            </a:r>
          </a:p>
          <a:p>
            <a:pPr>
              <a:spcAft>
                <a:spcPts val="200"/>
              </a:spcAft>
              <a:defRPr sz="1800"/>
            </a:pPr>
          </a:p>
          <a:p>
            <a:pPr>
              <a:spcAft>
                <a:spcPts val="200"/>
              </a:spcAft>
              <a:defRPr sz="1800"/>
            </a:pPr>
            <a:r>
              <a:t>En un contenedor de 100.000 €, esa diferencia son [IMPORTE €].</a:t>
            </a:r>
          </a:p>
          <a:p>
            <a:pPr>
              <a:spcAft>
                <a:spcPts val="200"/>
              </a:spcAft>
              <a:defRPr sz="1800"/>
            </a:pPr>
          </a:p>
          <a:p>
            <a:pPr>
              <a:spcAft>
                <a:spcPts val="200"/>
              </a:spcAft>
              <a:defRPr sz="1800"/>
            </a:pPr>
            <a:r>
              <a:t>Con Tariff Code lo resuelves en tres pasos:</a:t>
            </a:r>
          </a:p>
          <a:p>
            <a:pPr>
              <a:spcAft>
                <a:spcPts val="200"/>
              </a:spcAft>
              <a:defRPr sz="1800"/>
            </a:pPr>
          </a:p>
          <a:p>
            <a:pPr>
              <a:spcAft>
                <a:spcPts val="200"/>
              </a:spcAft>
              <a:defRPr sz="1800"/>
            </a:pPr>
            <a:r>
              <a:t>✔️ Describes el producto.</a:t>
            </a:r>
          </a:p>
          <a:p>
            <a:pPr>
              <a:spcAft>
                <a:spcPts val="200"/>
              </a:spcAft>
              <a:defRPr sz="1800"/>
            </a:pPr>
            <a:r>
              <a:t>✔️ Recibes el código.</a:t>
            </a:r>
          </a:p>
          <a:p>
            <a:pPr>
              <a:spcAft>
                <a:spcPts val="200"/>
              </a:spcAft>
              <a:defRPr sz="1800"/>
            </a:pPr>
            <a:r>
              <a:t>✔️ Ves la justificación y las referencias.</a:t>
            </a:r>
          </a:p>
          <a:p>
            <a:pPr>
              <a:spcAft>
                <a:spcPts val="200"/>
              </a:spcAft>
              <a:defRPr sz="1800"/>
            </a:pPr>
          </a:p>
          <a:p>
            <a:pPr>
              <a:spcAft>
                <a:spcPts val="200"/>
              </a:spcAft>
              <a:defRPr sz="1800"/>
            </a:pPr>
            <a:r>
              <a:t>Sin foros que leer y sin respuestas que no puedes verificar.</a:t>
            </a:r>
          </a:p>
          <a:p>
            <a:pPr>
              <a:spcAft>
                <a:spcPts val="200"/>
              </a:spcAft>
              <a:defRPr sz="1800"/>
            </a:pPr>
          </a:p>
          <a:p>
            <a:pPr>
              <a:spcAft>
                <a:spcPts val="200"/>
              </a:spcAft>
              <a:defRPr sz="1800"/>
            </a:pPr>
            <a:r>
              <a:t>Un código sin porqué no te protege. Uno con porqué, sí.</a:t>
            </a:r>
          </a:p>
          <a:p>
            <a:pPr>
              <a:spcAft>
                <a:spcPts val="200"/>
              </a:spcAft>
              <a:defRPr sz="1800"/>
            </a:pPr>
          </a:p>
          <a:p>
            <a:pPr>
              <a:spcAft>
                <a:spcPts val="200"/>
              </a:spcAft>
              <a:defRPr sz="1800"/>
            </a:pPr>
            <a:r>
              <a:t>👇 Te dejo el enlace para probarlo en el primer comentario.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miércoles 28/10 · Visual Trans (empresa)</a:t>
            </a:r>
          </a:p>
          <a:p>
            <a:pPr>
              <a:defRPr sz="1300">
                <a:solidFill>
                  <a:srgbClr val="666666"/>
                </a:solidFill>
              </a:defRPr>
            </a:pPr>
            <a:r>
              <a:t>Noticias · Pain — · formato: carrusel</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Leer.</a:t>
            </a:r>
          </a:p>
          <a:p>
            <a:pPr>
              <a:spcAft>
                <a:spcPts val="200"/>
              </a:spcAft>
              <a:defRPr sz="1800"/>
            </a:pPr>
          </a:p>
          <a:p>
            <a:pPr>
              <a:spcAft>
                <a:spcPts val="200"/>
              </a:spcAft>
              <a:defRPr sz="1800"/>
            </a:pPr>
            <a:r>
              <a:t>Cruzar.</a:t>
            </a:r>
          </a:p>
          <a:p>
            <a:pPr>
              <a:spcAft>
                <a:spcPts val="200"/>
              </a:spcAft>
              <a:defRPr sz="1800"/>
            </a:pPr>
          </a:p>
          <a:p>
            <a:pPr>
              <a:spcAft>
                <a:spcPts val="200"/>
              </a:spcAft>
              <a:defRPr sz="1800"/>
            </a:pPr>
            <a:r>
              <a:t>Copiar.</a:t>
            </a:r>
          </a:p>
          <a:p>
            <a:pPr>
              <a:spcAft>
                <a:spcPts val="200"/>
              </a:spcAft>
              <a:defRPr sz="1800"/>
            </a:pPr>
          </a:p>
          <a:p>
            <a:pPr>
              <a:spcAft>
                <a:spcPts val="200"/>
              </a:spcAft>
              <a:defRPr sz="1800"/>
            </a:pPr>
            <a:r>
              <a:t>Es lo que más tiempo se lleva en una operativa documental. Y es justo donde hoy ayuda la IA en el sector.</a:t>
            </a:r>
          </a:p>
          <a:p>
            <a:pPr>
              <a:spcAft>
                <a:spcPts val="200"/>
              </a:spcAft>
              <a:defRPr sz="1800"/>
            </a:pPr>
          </a:p>
          <a:p>
            <a:pPr>
              <a:spcAft>
                <a:spcPts val="200"/>
              </a:spcAft>
              <a:defRPr sz="1800"/>
            </a:pPr>
            <a:r>
              <a:t>1️⃣ Validar documentos: comprobar que los datos coinciden entre ellos.</a:t>
            </a:r>
          </a:p>
          <a:p>
            <a:pPr>
              <a:spcAft>
                <a:spcPts val="200"/>
              </a:spcAft>
              <a:defRPr sz="1800"/>
            </a:pPr>
            <a:r>
              <a:t>2️⃣ Clasificar mercancías: proponer un código arancelario con su justificación.</a:t>
            </a:r>
          </a:p>
          <a:p>
            <a:pPr>
              <a:spcAft>
                <a:spcPts val="200"/>
              </a:spcAft>
              <a:defRPr sz="1800"/>
            </a:pPr>
            <a:r>
              <a:t>3️⃣ Avisar de excepciones: señalar lo que se sale de lo normal antes de que sea un problema.</a:t>
            </a:r>
          </a:p>
          <a:p>
            <a:pPr>
              <a:spcAft>
                <a:spcPts val="200"/>
              </a:spcAft>
              <a:defRPr sz="1800"/>
            </a:pPr>
          </a:p>
          <a:p>
            <a:pPr>
              <a:spcAft>
                <a:spcPts val="200"/>
              </a:spcAft>
              <a:defRPr sz="1800"/>
            </a:pPr>
            <a:r>
              <a:t>La IA propone. La persona decide.</a:t>
            </a:r>
          </a:p>
          <a:p>
            <a:pPr>
              <a:spcAft>
                <a:spcPts val="200"/>
              </a:spcAft>
              <a:defRPr sz="1800"/>
            </a:pPr>
          </a:p>
          <a:p>
            <a:pPr>
              <a:spcAft>
                <a:spcPts val="200"/>
              </a:spcAft>
              <a:defRPr sz="1800"/>
            </a:pPr>
            <a:r>
              <a:t>No es solo automatizar tareas; es devolverle al equipo el tiempo para pensar.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jueves 29/10 · Emma González</a:t>
            </a:r>
          </a:p>
          <a:p>
            <a:pPr>
              <a:defRPr sz="1300">
                <a:solidFill>
                  <a:srgbClr val="666666"/>
                </a:solidFill>
              </a:defRPr>
            </a:pPr>
            <a:r>
              <a:t>Tariff Code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200"/>
            </a:pPr>
            <a:r>
              <a:t>[CÓDIGO A] o [CÓDIGO B]. Un peluche que habla, [IMPORTE €] de diferencia.</a:t>
            </a:r>
          </a:p>
          <a:p>
            <a:pPr>
              <a:spcAft>
                <a:spcPts val="200"/>
              </a:spcAft>
              <a:defRPr sz="1200"/>
            </a:pPr>
          </a:p>
          <a:p>
            <a:pPr>
              <a:spcAft>
                <a:spcPts val="200"/>
              </a:spcAft>
              <a:defRPr sz="1200"/>
            </a:pPr>
            <a:r>
              <a:t>Parece una curiosidad. En la aduana es una decisión.</a:t>
            </a:r>
          </a:p>
          <a:p>
            <a:pPr>
              <a:spcAft>
                <a:spcPts val="200"/>
              </a:spcAft>
              <a:defRPr sz="1200"/>
            </a:pPr>
          </a:p>
          <a:p>
            <a:pPr>
              <a:spcAft>
                <a:spcPts val="200"/>
              </a:spcAft>
              <a:defRPr sz="1200"/>
            </a:pPr>
            <a:r>
              <a:t>¿Es un juguete o es un aparato electrónico con forma de peluche? Según [CRITERIO DE CLASIFICACIÓN], cambia el código y cambia el arancel: [X %] frente a [Y %].</a:t>
            </a:r>
          </a:p>
          <a:p>
            <a:pPr>
              <a:spcAft>
                <a:spcPts val="200"/>
              </a:spcAft>
              <a:defRPr sz="1200"/>
            </a:pPr>
          </a:p>
          <a:p>
            <a:pPr>
              <a:spcAft>
                <a:spcPts val="200"/>
              </a:spcAft>
              <a:defRPr sz="1200"/>
            </a:pPr>
            <a:r>
              <a:t>Sobre [VALOR € DE LA PARTIDA], la diferencia es de [IMPORTE €].</a:t>
            </a:r>
          </a:p>
          <a:p>
            <a:pPr>
              <a:spcAft>
                <a:spcPts val="200"/>
              </a:spcAft>
              <a:defRPr sz="1200"/>
            </a:pPr>
          </a:p>
          <a:p>
            <a:pPr>
              <a:spcAft>
                <a:spcPts val="200"/>
              </a:spcAft>
              <a:defRPr sz="1200"/>
            </a:pPr>
            <a:r>
              <a:t>La diferencia entre un código y otro se nota desde el primer despacho.</a:t>
            </a:r>
          </a:p>
          <a:p>
            <a:pPr>
              <a:spcAft>
                <a:spcPts val="200"/>
              </a:spcAft>
              <a:defRPr sz="1200"/>
            </a:pPr>
          </a:p>
          <a:p>
            <a:pPr>
              <a:spcAft>
                <a:spcPts val="200"/>
              </a:spcAft>
              <a:defRPr sz="1200"/>
            </a:pPr>
            <a:r>
              <a:t>→ El código correcto</a:t>
            </a:r>
          </a:p>
          <a:p>
            <a:pPr>
              <a:spcAft>
                <a:spcPts val="200"/>
              </a:spcAft>
              <a:defRPr sz="1200"/>
            </a:pPr>
            <a:r>
              <a:t>→ El porqué de ese código</a:t>
            </a:r>
          </a:p>
          <a:p>
            <a:pPr>
              <a:spcAft>
                <a:spcPts val="200"/>
              </a:spcAft>
              <a:defRPr sz="1200"/>
            </a:pPr>
          </a:p>
          <a:p>
            <a:pPr>
              <a:spcAft>
                <a:spcPts val="200"/>
              </a:spcAft>
              <a:defRPr sz="1200"/>
            </a:pPr>
            <a:r>
              <a:t>¿Te ha pasado alguna vez con un producto de este tipo?</a:t>
            </a:r>
          </a:p>
          <a:p>
            <a:pPr>
              <a:spcAft>
                <a:spcPts val="200"/>
              </a:spcAft>
              <a:defRPr sz="1200"/>
            </a:pPr>
          </a:p>
          <a:p>
            <a:pPr>
              <a:spcAft>
                <a:spcPts val="200"/>
              </a:spcAft>
              <a:defRPr sz="1200"/>
            </a:pPr>
            <a:r>
              <a:t>---</a:t>
            </a:r>
          </a:p>
          <a:p>
            <a:pPr>
              <a:spcAft>
                <a:spcPts val="200"/>
              </a:spcAft>
              <a:defRPr sz="1200"/>
            </a:pPr>
          </a:p>
          <a:p>
            <a:pPr>
              <a:spcAft>
                <a:spcPts val="200"/>
              </a:spcAft>
              <a:defRPr sz="1200"/>
            </a:pPr>
            <a:r>
              <a:t>## Notas de redacción para el log</a:t>
            </a:r>
          </a:p>
          <a:p>
            <a:pPr>
              <a:spcAft>
                <a:spcPts val="200"/>
              </a:spcAft>
              <a:defRPr sz="1200"/>
            </a:pPr>
          </a:p>
          <a:p>
            <a:pPr>
              <a:spcAft>
                <a:spcPts val="200"/>
              </a:spcAft>
              <a:defRPr sz="1200"/>
            </a:pPr>
            <a:r>
              <a:t>- Sin DeCA, eCMR, factura electrónica ni Verifactu. Sin hashtags (Emma no los usa).</a:t>
            </a:r>
          </a:p>
          <a:p>
            <a:pPr>
              <a:spcAft>
                <a:spcPts val="200"/>
              </a:spcAft>
              <a:defRPr sz="1200"/>
            </a:pPr>
            <a:r>
              <a:t>- Marcadores pendientes (no hay dato verificable en briefing, noticias ni calendario):</a:t>
            </a:r>
          </a:p>
          <a:p>
            <a:pPr>
              <a:spcAft>
                <a:spcPts val="200"/>
              </a:spcAft>
              <a:defRPr sz="1200"/>
            </a:pPr>
            <a:r>
              <a:t>  - 22/10: [CÓDIGO A], [CÓDIGO B], [CRITERIO], [X %], [Y %], [VALOR €], [IMPORTE €].</a:t>
            </a:r>
          </a:p>
          <a:p>
            <a:pPr>
              <a:spcAft>
                <a:spcPts val="200"/>
              </a:spcAft>
              <a:defRPr sz="1200"/>
            </a:pPr>
            <a:r>
              <a:t>  - 26/10: ninguno de cifra. Fecha del Diario Oficial (19/09) y "12 meses" salen de Noticias_Sector; la fecha exacta de entrada en vigor no coincide entre fuentes (20 o 21/09/2026), por eso no se cita. Verificar en EUR-Lex antes de publicar. Fuente al primer comentario: Noticias Jurídicas y Diario del Puerto (URLs en Noticias_Sector).</a:t>
            </a:r>
          </a:p>
          <a:p>
            <a:pPr>
              <a:spcAft>
                <a:spcPts val="200"/>
              </a:spcAft>
              <a:defRPr sz="1200"/>
            </a:pPr>
            <a:r>
              <a:t>  - 28/10: [MINUTOS POR EXPEDIENTE], [N EXPEDIENTES AL MES], [HORAS AL MES]. NIF/mercancía/importe como ejemplo de dato repetido: ilustrativo, no es cifra.</a:t>
            </a:r>
          </a:p>
          <a:p>
            <a:pPr>
              <a:spcAft>
                <a:spcPts val="200"/>
              </a:spcAft>
              <a:defRPr sz="1200"/>
            </a:pPr>
            <a:r>
              <a:t>  - 29/10: [CÓDIGO A], [CÓDIGO B], [CRITERIO DE CLASIFICACIÓN], [X %], [Y %], [VALOR € DE LA PARTIDA], [IMPORTE €].</a:t>
            </a:r>
          </a:p>
          <a:p>
            <a:pPr>
              <a:spcAft>
                <a:spcPts val="200"/>
              </a:spcAft>
              <a:defRPr sz="1200"/>
            </a:pPr>
            <a:r>
              <a:t>- Productos de Tariff Code elegidos: freidora de aire (22/10) y peluche con sonido (29/10). Los códigos y la clasificación real de ambos hay que verificarlos (o sustituir el producto por otro con clasificación comprobada). Coordinar con los posts de VT (26 y 30/10) y Enrique (28/10), aún no redactados, para que no repitan producto.</a:t>
            </a:r>
          </a:p>
          <a:p>
            <a:pPr>
              <a:spcAft>
                <a:spcPts val="200"/>
              </a:spcAft>
              <a:defRPr sz="1200"/>
            </a:pPr>
            <a:r>
              <a:t>- 22/10 y 29/10: ambos usan "→ El código correcto / → El porqué" de la voz de Emma; cierres con pregunta distinta. Aperturas dato-impacto (E-R2) con variaciones: "vs." el 22 y "o" el 29.</a:t>
            </a:r>
          </a:p>
          <a:p>
            <a:pPr>
              <a:spcAft>
                <a:spcPts val="200"/>
              </a:spcAft>
              <a:defRPr sz="1200"/>
            </a:pPr>
            <a:r>
              <a:t>- 26/10: tres puntos 1️⃣2️⃣3️⃣ son propuestas de preparación de criterio general, sin dato normativo añadido. Apertura con cifra (12 meses, de Noticias_Sector).</a:t>
            </a:r>
          </a:p>
          <a:p>
            <a:pPr>
              <a:spcAft>
                <a:spcPts val="200"/>
              </a:spcAft>
              <a:defRPr sz="1200"/>
            </a:pPr>
            <a:r>
              <a:t>- 28/10: apertura con cifra "Un dato. Tres sitios" (la cifra real, tiempo perdido, va en marcador). Sin enlace, por lo que no lleva 👇.</a:t>
            </a:r>
          </a:p>
          <a:p>
            <a:pPr>
              <a:spcAft>
                <a:spcPts val="200"/>
              </a:spcAft>
              <a:defRPr sz="1200"/>
            </a:pPr>
            <a:r>
              <a:t>- Longitud: objetivo 500-800 caracteres; con los marcadores resueltos pueden variar algo. El del 26/10 queda cerca del tope.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jueves 29/10 · Enrique Saa</a:t>
            </a:r>
          </a:p>
          <a:p>
            <a:pPr>
              <a:defRPr sz="1300">
                <a:solidFill>
                  <a:srgbClr val="666666"/>
                </a:solidFill>
              </a:defRPr>
            </a:pPr>
            <a:r>
              <a:t>Pains · Pain 13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200"/>
            </a:pPr>
            <a:r>
              <a:t>Desde el 1 de enero de 2026, todas las fases de ICS2 son obligatorias. 📅</a:t>
            </a:r>
          </a:p>
          <a:p>
            <a:pPr>
              <a:spcAft>
                <a:spcPts val="200"/>
              </a:spcAft>
              <a:defRPr sz="1200"/>
            </a:pPr>
          </a:p>
          <a:p>
            <a:pPr>
              <a:spcAft>
                <a:spcPts val="200"/>
              </a:spcAft>
              <a:defRPr sz="1200"/>
            </a:pPr>
            <a:r>
              <a:t>Y desde el 1 de junio de 2026 se aplica en cinco países más: Polonia, Croacia, Letonia, Rumanía y Eslovaquia.</a:t>
            </a:r>
          </a:p>
          <a:p>
            <a:pPr>
              <a:spcAft>
                <a:spcPts val="200"/>
              </a:spcAft>
              <a:defRPr sz="1200"/>
            </a:pPr>
          </a:p>
          <a:p>
            <a:pPr>
              <a:spcAft>
                <a:spcPts val="200"/>
              </a:spcAft>
              <a:defRPr sz="1200"/>
            </a:pPr>
            <a:r>
              <a:t>La norma no te pregunta qué módulos tienes contratados. Te exige cumplir.</a:t>
            </a:r>
          </a:p>
          <a:p>
            <a:pPr>
              <a:spcAft>
                <a:spcPts val="200"/>
              </a:spcAft>
              <a:defRPr sz="1200"/>
            </a:pPr>
          </a:p>
          <a:p>
            <a:pPr>
              <a:spcAft>
                <a:spcPts val="200"/>
              </a:spcAft>
              <a:defRPr sz="1200"/>
            </a:pPr>
            <a:r>
              <a:t>Con una licencia perpetua pagas mucho al principio, también por módulos que no usas. Y te quedas con la versión que compraste mientras la norma sigue cambiando.</a:t>
            </a:r>
          </a:p>
          <a:p>
            <a:pPr>
              <a:spcAft>
                <a:spcPts val="200"/>
              </a:spcAft>
              <a:defRPr sz="1200"/>
            </a:pPr>
          </a:p>
          <a:p>
            <a:pPr>
              <a:spcAft>
                <a:spcPts val="200"/>
              </a:spcAft>
              <a:defRPr sz="1200"/>
            </a:pPr>
            <a:r>
              <a:t>Un modelo por usuario es otra cosa: pagas por lo que usas y el producto evoluciona contigo.</a:t>
            </a:r>
          </a:p>
          <a:p>
            <a:pPr>
              <a:spcAft>
                <a:spcPts val="200"/>
              </a:spcAft>
              <a:defRPr sz="1200"/>
            </a:pPr>
          </a:p>
          <a:p>
            <a:pPr>
              <a:spcAft>
                <a:spcPts val="200"/>
              </a:spcAft>
              <a:defRPr sz="1200"/>
            </a:pPr>
            <a:r>
              <a:t>No es solo software, es responsabilidad legal.</a:t>
            </a:r>
          </a:p>
          <a:p>
            <a:pPr>
              <a:spcAft>
                <a:spcPts val="200"/>
              </a:spcAft>
              <a:defRPr sz="1200"/>
            </a:pPr>
          </a:p>
          <a:p>
            <a:pPr>
              <a:spcAft>
                <a:spcPts val="200"/>
              </a:spcAft>
              <a:defRPr sz="1200"/>
            </a:pPr>
            <a:r>
              <a:t>👇 Te dejo la fuente en el primer comentario.</a:t>
            </a:r>
          </a:p>
          <a:p>
            <a:pPr>
              <a:spcAft>
                <a:spcPts val="200"/>
              </a:spcAft>
              <a:defRPr sz="1200"/>
            </a:pPr>
          </a:p>
          <a:p>
            <a:pPr>
              <a:spcAft>
                <a:spcPts val="200"/>
              </a:spcAft>
              <a:defRPr sz="1200"/>
            </a:pPr>
            <a:r>
              <a:t>---</a:t>
            </a:r>
          </a:p>
          <a:p>
            <a:pPr>
              <a:spcAft>
                <a:spcPts val="200"/>
              </a:spcAft>
              <a:defRPr sz="1200"/>
            </a:pPr>
          </a:p>
          <a:p>
            <a:pPr>
              <a:spcAft>
                <a:spcPts val="200"/>
              </a:spcAft>
              <a:defRPr sz="1200"/>
            </a:pPr>
            <a:r>
              <a:t>## Notas de redacción para el log</a:t>
            </a:r>
          </a:p>
          <a:p>
            <a:pPr>
              <a:spcAft>
                <a:spcPts val="200"/>
              </a:spcAft>
              <a:defRPr sz="1200"/>
            </a:pPr>
          </a:p>
          <a:p>
            <a:pPr>
              <a:spcAft>
                <a:spcPts val="200"/>
              </a:spcAft>
              <a:defRPr sz="1200"/>
            </a:pPr>
            <a:r>
              <a:t>- Sin DeCA, eCMR, factura electrónica ni Verifactu, según feedback de Adrián.</a:t>
            </a:r>
          </a:p>
          <a:p>
            <a:pPr>
              <a:spcAft>
                <a:spcPts val="200"/>
              </a:spcAft>
              <a:defRPr sz="1200"/>
            </a:pPr>
            <a:r>
              <a:t>- 22/10: la fecha 21/09/2027 viene del calendario validado. Noticias_Sector.txt indica que las fuentes no coinciden en la entrada en vigor (20 o 21/09/2026) y pide verificar en EUR-Lex; confirmar antes de publicar. "Doce meses" se toma de "tras 12 meses de adaptación" de esa misma entrada. Se omiten las fechas del Centro de Datos (2028/2034) por ser extractos sin contrastar.</a:t>
            </a:r>
          </a:p>
          <a:p>
            <a:pPr>
              <a:spcAft>
                <a:spcPts val="200"/>
              </a:spcAft>
              <a:defRPr sz="1200"/>
            </a:pPr>
            <a:r>
              <a:t>- 26/10: abre con afirmación, no con cifra, porque no hay dato verificable (el 54 % del informe de Infobae está sin verificar y no se cita). Marcador [ENLACE] para el recurso del primer comentario. No se menciona Tariff Code por nombre para no pisar los posts del 26/10 (VT) y 28/10.</a:t>
            </a:r>
          </a:p>
          <a:p>
            <a:pPr>
              <a:spcAft>
                <a:spcPts val="200"/>
              </a:spcAft>
              <a:defRPr sz="1200"/>
            </a:pPr>
            <a:r>
              <a:t>- 28/10: marcadores [CÓDIGO A], [CÓDIGO B], [X %], [IMPORTE €] sin rellenar; no hay datos verificados. Producto propuesto: pulsera de actividad (distinto de la freidora de aire de Enrique del 20/10); hay que comprobar en Tariff Code que da dos códigos con diferencia de arancel real y que no coincide con los productos elegidos por VT (26/10, 30/10) y Emma (22/10, 29/10), que no he podido consultar. "Javier" es un personaje ilustrativo. Aperturas con marcadores, no con cifra real: si no se rellenan, no publicar.</a:t>
            </a:r>
          </a:p>
          <a:p>
            <a:pPr>
              <a:spcAft>
                <a:spcPts val="200"/>
              </a:spcAft>
              <a:defRPr sz="1200"/>
            </a:pPr>
            <a:r>
              <a:t>- 29/10: la apertura usa fechas de ICS2 del briefing (1/1/2026 y 1/6/2026, cinco países), no una cifra de coste, para no inventar importes. El pain #13 se redacta sin venta directa ni cifras de precio.</a:t>
            </a:r>
          </a:p>
          <a:p>
            <a:pPr>
              <a:spcAft>
                <a:spcPts val="200"/>
              </a:spcAft>
              <a:defRPr sz="1200"/>
            </a:pPr>
            <a:r>
              <a:t>- Longitud: 22/10 y 29/10 en rango 500-800; 26/10 y 28/10 pueden quedar algo por encima o por debajo según se rellenen los marcadores; revisar tras sustituirlos.</a:t>
            </a:r>
          </a:p>
          <a:p>
            <a:pPr>
              <a:spcAft>
                <a:spcPts val="200"/>
              </a:spcAft>
              <a:defRPr sz="1200"/>
            </a:pPr>
            <a:r>
              <a:t>- Emojis: ⏳ y 👇 (22/10); ✔️ y 👇 (26 y 28/10); 📅 y 👇 (29/10).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jueves 29/10 · Visual Trans (empresa)</a:t>
            </a:r>
          </a:p>
          <a:p>
            <a:pPr>
              <a:defRPr sz="1300">
                <a:solidFill>
                  <a:srgbClr val="666666"/>
                </a:solidFill>
              </a:defRPr>
            </a:pPr>
            <a:r>
              <a:t>Noticias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Cada año, la Nomenclatura Combinada cambia.</a:t>
            </a:r>
          </a:p>
          <a:p>
            <a:pPr>
              <a:spcAft>
                <a:spcPts val="200"/>
              </a:spcAft>
              <a:defRPr sz="1800"/>
            </a:pPr>
          </a:p>
          <a:p>
            <a:pPr>
              <a:spcAft>
                <a:spcPts val="200"/>
              </a:spcAft>
              <a:defRPr sz="1800"/>
            </a:pPr>
            <a:r>
              <a:t>Cuando se publique la edición de 2027 en el Diario Oficial de la UE, empezará la cuenta atrás hacia enero. Y conviene no esperar a ese día para mirarla.</a:t>
            </a:r>
          </a:p>
          <a:p>
            <a:pPr>
              <a:spcAft>
                <a:spcPts val="200"/>
              </a:spcAft>
              <a:defRPr sz="1800"/>
            </a:pPr>
          </a:p>
          <a:p>
            <a:pPr>
              <a:spcAft>
                <a:spcPts val="200"/>
              </a:spcAft>
              <a:defRPr sz="1800"/>
            </a:pPr>
            <a:r>
              <a:t>Qué revisar antes:</a:t>
            </a:r>
          </a:p>
          <a:p>
            <a:pPr>
              <a:spcAft>
                <a:spcPts val="200"/>
              </a:spcAft>
              <a:defRPr sz="1800"/>
            </a:pPr>
          </a:p>
          <a:p>
            <a:pPr>
              <a:spcAft>
                <a:spcPts val="200"/>
              </a:spcAft>
              <a:defRPr sz="1800"/>
            </a:pPr>
            <a:r>
              <a:t>✅ Qué partidas de tus productos habituales se ven afectadas.</a:t>
            </a:r>
          </a:p>
          <a:p>
            <a:pPr>
              <a:spcAft>
                <a:spcPts val="200"/>
              </a:spcAft>
              <a:defRPr sz="1800"/>
            </a:pPr>
            <a:r>
              <a:t>✅ Qué códigos tienes guardados en tarifas y fichas de cliente.</a:t>
            </a:r>
          </a:p>
          <a:p>
            <a:pPr>
              <a:spcAft>
                <a:spcPts val="200"/>
              </a:spcAft>
              <a:defRPr sz="1800"/>
            </a:pPr>
            <a:r>
              <a:t>✅ Qué aranceles cambian, y cómo afecta a lo que ya has cotizado.</a:t>
            </a:r>
          </a:p>
          <a:p>
            <a:pPr>
              <a:spcAft>
                <a:spcPts val="200"/>
              </a:spcAft>
              <a:defRPr sz="1800"/>
            </a:pPr>
          </a:p>
          <a:p>
            <a:pPr>
              <a:spcAft>
                <a:spcPts val="200"/>
              </a:spcAft>
              <a:defRPr sz="1800"/>
            </a:pPr>
            <a:r>
              <a:t>No es solo un cambio de números; es el margen de una oferta.</a:t>
            </a:r>
          </a:p>
          <a:p>
            <a:pPr>
              <a:spcAft>
                <a:spcPts val="200"/>
              </a:spcAft>
              <a:defRPr sz="1800"/>
            </a:pPr>
          </a:p>
          <a:p>
            <a:pPr>
              <a:spcAft>
                <a:spcPts val="200"/>
              </a:spcAft>
              <a:defRPr sz="1800"/>
            </a:pPr>
            <a:r>
              <a:t>Fuente en el primer comentario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viernes 30/10 10:00 · Laura Díaz</a:t>
            </a:r>
          </a:p>
          <a:p>
            <a:pPr>
              <a:defRPr sz="1300">
                <a:solidFill>
                  <a:srgbClr val="666666"/>
                </a:solidFill>
              </a:defRPr>
            </a:pPr>
            <a:r>
              <a:t> · Pain — · formato: solo texto</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800"/>
            </a:pPr>
            <a:r>
              <a:t>Lo que más echo de menos del trabajo es hablar con la gente.</a:t>
            </a:r>
          </a:p>
          <a:p>
            <a:pPr>
              <a:spcAft>
                <a:spcPts val="200"/>
              </a:spcAft>
              <a:defRPr sz="1800"/>
            </a:pPr>
          </a:p>
          <a:p>
            <a:pPr>
              <a:spcAft>
                <a:spcPts val="200"/>
              </a:spcAft>
              <a:defRPr sz="1800"/>
            </a:pPr>
            <a:r>
              <a:t>No lo digo por quedar bien. Hay semanas que se me van entre pantallas y cuando levanto la cabeza ya es viernes y no he tenido una conversación de verdad.</a:t>
            </a:r>
          </a:p>
          <a:p>
            <a:pPr>
              <a:spcAft>
                <a:spcPts val="200"/>
              </a:spcAft>
              <a:defRPr sz="1800"/>
            </a:pPr>
          </a:p>
          <a:p>
            <a:pPr>
              <a:spcAft>
                <a:spcPts val="200"/>
              </a:spcAft>
              <a:defRPr sz="1800"/>
            </a:pPr>
            <a:r>
              <a:t>Por eso me interesa tanto que la IA haga lo pesado. No para hacer más. Para que quede hueco para lo que no sale en ningún informe: llamar a un cliente, resolver una duda con calma, escuchar.</a:t>
            </a:r>
          </a:p>
          <a:p>
            <a:pPr>
              <a:spcAft>
                <a:spcPts val="200"/>
              </a:spcAft>
              <a:defRPr sz="1800"/>
            </a:pPr>
          </a:p>
          <a:p>
            <a:pPr>
              <a:spcAft>
                <a:spcPts val="200"/>
              </a:spcAft>
              <a:defRPr sz="1800"/>
            </a:pPr>
            <a:r>
              <a:t>Puede que me equivoque, ojo. Todo esto va tan rápido que cualquier certeza me suena sospechosa.</a:t>
            </a:r>
          </a:p>
          <a:p>
            <a:pPr>
              <a:spcAft>
                <a:spcPts val="200"/>
              </a:spcAft>
              <a:defRPr sz="1800"/>
            </a:pPr>
          </a:p>
          <a:p>
            <a:pPr>
              <a:spcAft>
                <a:spcPts val="200"/>
              </a:spcAft>
              <a:defRPr sz="1800"/>
            </a:pPr>
            <a:r>
              <a:t>Pero si al final del día me quedan cinco minutos para hablar con alguien, lo cuento como victoria.</a:t>
            </a:r>
          </a:p>
          <a:p>
            <a:pPr>
              <a:spcAft>
                <a:spcPts val="200"/>
              </a:spcAft>
              <a:defRPr sz="1800"/>
            </a:pPr>
          </a:p>
          <a:p>
            <a:pPr>
              <a:spcAft>
                <a:spcPts val="200"/>
              </a:spcAft>
              <a:defRPr sz="1800"/>
            </a:pPr>
            <a:r>
              <a:t>¿Y tú, en qué se te va el tiempo que querrías dedicar a las personas?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viernes 30/10 · Visual Trans (empresa)</a:t>
            </a:r>
          </a:p>
          <a:p>
            <a:pPr>
              <a:defRPr sz="1300">
                <a:solidFill>
                  <a:srgbClr val="666666"/>
                </a:solidFill>
              </a:defRPr>
            </a:pPr>
            <a:r>
              <a:t>Tariff Code · Pain — · formato: imagen</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200"/>
            </a:pPr>
            <a:r>
              <a:t>¿Cuánto cuesta equivocarte de partida arancelaria?</a:t>
            </a:r>
          </a:p>
          <a:p>
            <a:pPr>
              <a:spcAft>
                <a:spcPts val="200"/>
              </a:spcAft>
              <a:defRPr sz="1200"/>
            </a:pPr>
          </a:p>
          <a:p>
            <a:pPr>
              <a:spcAft>
                <a:spcPts val="200"/>
              </a:spcAft>
              <a:defRPr sz="1200"/>
            </a:pPr>
            <a:r>
              <a:t>Con [PRODUCTO B, cotidiano y distinto de PRODUCTO A], [DIFERENCIA] €. Entre el código [CÓDIGO C] y el [CÓDIGO D] hay [ARANCEL C] % frente a [ARANCEL D] %, sobre una mercancía de [VALOR €].</a:t>
            </a:r>
          </a:p>
          <a:p>
            <a:pPr>
              <a:spcAft>
                <a:spcPts val="200"/>
              </a:spcAft>
              <a:defRPr sz="1200"/>
            </a:pPr>
          </a:p>
          <a:p>
            <a:pPr>
              <a:spcAft>
                <a:spcPts val="200"/>
              </a:spcAft>
              <a:defRPr sz="1200"/>
            </a:pPr>
            <a:r>
              <a:t>Un detalle de la descripción cambia el código. Y el código cambia el coste.</a:t>
            </a:r>
          </a:p>
          <a:p>
            <a:pPr>
              <a:spcAft>
                <a:spcPts val="200"/>
              </a:spcAft>
              <a:defRPr sz="1200"/>
            </a:pPr>
          </a:p>
          <a:p>
            <a:pPr>
              <a:spcAft>
                <a:spcPts val="200"/>
              </a:spcAft>
              <a:defRPr sz="1200"/>
            </a:pPr>
            <a:r>
              <a:t>Por eso Tariff Code no solo da el código: da la justificación, para saber por qué ese.</a:t>
            </a:r>
          </a:p>
          <a:p>
            <a:pPr>
              <a:spcAft>
                <a:spcPts val="200"/>
              </a:spcAft>
              <a:defRPr sz="1200"/>
            </a:pPr>
          </a:p>
          <a:p>
            <a:pPr>
              <a:spcAft>
                <a:spcPts val="200"/>
              </a:spcAft>
              <a:defRPr sz="1200"/>
            </a:pPr>
            <a:r>
              <a:t>¿Cuál es el producto más difícil de clasificar que te has encontrado?</a:t>
            </a:r>
          </a:p>
          <a:p>
            <a:pPr>
              <a:spcAft>
                <a:spcPts val="200"/>
              </a:spcAft>
              <a:defRPr sz="1200"/>
            </a:pPr>
          </a:p>
          <a:p>
            <a:pPr>
              <a:spcAft>
                <a:spcPts val="200"/>
              </a:spcAft>
              <a:defRPr sz="1200"/>
            </a:pPr>
            <a:r>
              <a:t>---</a:t>
            </a:r>
          </a:p>
          <a:p>
            <a:pPr>
              <a:spcAft>
                <a:spcPts val="200"/>
              </a:spcAft>
              <a:defRPr sz="1200"/>
            </a:pPr>
          </a:p>
          <a:p>
            <a:pPr>
              <a:spcAft>
                <a:spcPts val="200"/>
              </a:spcAft>
              <a:defRPr sz="1200"/>
            </a:pPr>
            <a:r>
              <a:t>## Notas de redacción para el log</a:t>
            </a:r>
          </a:p>
          <a:p>
            <a:pPr>
              <a:spcAft>
                <a:spcPts val="200"/>
              </a:spcAft>
              <a:defRPr sz="1200"/>
            </a:pPr>
          </a:p>
          <a:p>
            <a:pPr>
              <a:spcAft>
                <a:spcPts val="200"/>
              </a:spcAft>
              <a:defRPr sz="1200"/>
            </a:pPr>
            <a:r>
              <a:t>- Sin DeCA, eCMR, factura electrónica ni Verifactu en ningún post, según feedback de Adrián.</a:t>
            </a:r>
          </a:p>
          <a:p>
            <a:pPr>
              <a:spcAft>
                <a:spcPts val="200"/>
              </a:spcAft>
              <a:defRPr sz="1200"/>
            </a:pPr>
            <a:r>
              <a:t>- 21/10: el calendario dice "3 € por paquete" y la tasa "1 nov"; Noticias_Sector.txt dice derecho fijo de 3 € por tipo de artículo desde el 1/07 (hasta el 1/07/2028) y tasa de 2 € por envío desde el 1/11, sin contrastar. No se afirma ni la unidad del 3 € ni el importe de la tasa: ambos entre corchetes. La franquicia de 150 € y el Reglamento 2026/382 vienen del post VT anterior. Fuentes (AEAT, H7) al primer comentario.</a:t>
            </a:r>
          </a:p>
          <a:p>
            <a:pPr>
              <a:spcAft>
                <a:spcPts val="200"/>
              </a:spcAft>
              <a:defRPr sz="1200"/>
            </a:pPr>
            <a:r>
              <a:t>- 22/10: no existe en el repo la cifra "3,6x" de Emma ni otro dato de tiempo; marcador para la cifra. El post abre con pregunta que se responde en el segundo párrafo (voz VT). No se cita el 54 % de Infobae (sin verificar). No se afirma que vForwarding haga esto. Cierre con pregunta (sin fuente).</a:t>
            </a:r>
          </a:p>
          <a:p>
            <a:pPr>
              <a:spcAft>
                <a:spcPts val="200"/>
              </a:spcAft>
              <a:defRPr sz="1200"/>
            </a:pPr>
            <a:r>
              <a:t>- 23/10: datos de ICS2 del briefing (trans.info). Los tres checks son recomendaciones, no obligaciones nuevas.</a:t>
            </a:r>
          </a:p>
          <a:p>
            <a:pPr>
              <a:spcAft>
                <a:spcPts val="200"/>
              </a:spcAft>
              <a:defRPr sz="1200"/>
            </a:pPr>
            <a:r>
              <a:t>- 26/10 y 30/10: sin producto ni códigos verificados en el repo, todo en marcadores. Gancho E-R2 (producto cotidiano, dos códigos, diferencia en €) y demostración en tres pasos de R-04. Productos distintos entre sí (A y B) y distintos de los de Emma/Cecilio/Laura/Enrique: coordinar al rellenar. Se evita "cepillo de dientes" y "calzado deportivo con suela de gel" (ya usados). No se pega enlace a la herramienta, no hay URL en el material.</a:t>
            </a:r>
          </a:p>
          <a:p>
            <a:pPr>
              <a:spcAft>
                <a:spcPts val="200"/>
              </a:spcAft>
              <a:defRPr sz="1200"/>
            </a:pPr>
            <a:r>
              <a:t>- 27/10: todos los datos CBAM proceden del post VT del 20/10 (periodo definitivo desde 1/01/2026, certificados desde febrero de 2027, declaración el 30/09/2027, Anexo I). Se evita repetir el precio de 82,32 €. Revisar con fuente oficial antes de publicar (la fila pedía verificar).</a:t>
            </a:r>
          </a:p>
          <a:p>
            <a:pPr>
              <a:spcAft>
                <a:spcPts val="200"/>
              </a:spcAft>
              <a:defRPr sz="1200"/>
            </a:pPr>
            <a:r>
              <a:t>- 28/10: la fila dice "casos reales de uso", pero no hay casos de cliente registrados. Se presentan usos generales del sector (briefing: validación documental, clasificación arancelaria asistida, alertas de excepción; confianza media), sin atribuirlos a clientes. Si Adrián aporta un caso real, añadirlo en la última diapositiva.</a:t>
            </a:r>
          </a:p>
          <a:p>
            <a:pPr>
              <a:spcAft>
                <a:spcPts val="200"/>
              </a:spcAft>
              <a:defRPr sz="1200"/>
            </a:pPr>
            <a:r>
              <a:t>- 29/10: la fecha de publicación de la NC 2027 no está verificada, por lo que se redacta en condicional ("cuando se publique"). Si no sale publicada, mantener o retirar el post.</a:t>
            </a:r>
          </a:p>
          <a:p>
            <a:pPr>
              <a:spcAft>
                <a:spcPts val="200"/>
              </a:spcAft>
              <a:defRPr sz="1200"/>
            </a:pPr>
            <a:r>
              <a:t>- Aperturas: cifra (21), pregunta (22), fecha (23), cifra-marcador (26), fecha (27), serie de infinitivos (28), frase (29), pregunta (30). Todos los cierres con fuente usan "Fuente en el primer comentario 👇". Sin hashtags ni negritas.</a:t>
            </a:r>
          </a:p>
          <a:p>
            <a:pPr>
              <a:spcAft>
                <a:spcPts val="200"/>
              </a:spcAft>
              <a:defRPr sz="1200"/>
            </a:pPr>
            <a:r>
              <a:t>- Longitud: la mayoría entre 500 y 800 caracteres, con la excepción de los posts con marcadores, que se alargarán o acortarán al rellenarlos.</a:t>
            </a:r>
          </a:p>
          <a:p>
            <a:pPr>
              <a:spcAft>
                <a:spcPts val="200"/>
              </a:spcAft>
              <a:defRPr sz="1200"/>
            </a:pPr>
          </a:p>
          <a:p>
            <a:pPr>
              <a:spcAft>
                <a:spcPts val="200"/>
              </a:spcAft>
              <a:defRPr sz="1200"/>
            </a:pPr>
            <a:r>
              <a:t>### Guion de carruseles</a:t>
            </a:r>
          </a:p>
          <a:p>
            <a:pPr>
              <a:spcAft>
                <a:spcPts val="200"/>
              </a:spcAft>
              <a:defRPr sz="1200"/>
            </a:pPr>
          </a:p>
          <a:p>
            <a:pPr>
              <a:spcAft>
                <a:spcPts val="200"/>
              </a:spcAft>
              <a:defRPr sz="1200"/>
            </a:pPr>
            <a:r>
              <a:t>21/10 (5 diapositivas): 1) Portada "3 €" + "Qué cambia para quien tramita e-commerce"; 2) Derecho fijo desde el 1/07; 3) Franquicia de 150 € eliminada; 4) Tasa de tramitación desde el 1/11, importe previsto [IMPORTE €]; 5) Cierre "No es solo un importe nuevo; es otra forma de calcular cada despacho" + logo.</a:t>
            </a:r>
          </a:p>
          <a:p>
            <a:pPr>
              <a:spcAft>
                <a:spcPts val="200"/>
              </a:spcAft>
              <a:defRPr sz="1200"/>
            </a:pPr>
          </a:p>
          <a:p>
            <a:pPr>
              <a:spcAft>
                <a:spcPts val="200"/>
              </a:spcAft>
              <a:defRPr sz="1200"/>
            </a:pPr>
            <a:r>
              <a:t>27/10 (5 diapositivas): 1) Portada "30 de septiembre de 2027: primera declaración CBAM"; 2) Definitivo desde el 1/01/2026; 3) Certificados desde febrero de 2027 y coste de 2026 retroactivo; 4) A quién afecta: Anexo I y representante aduanero; 5) Cierre "No es solo un trámite futuro; es una cuenta que ya corre" + logo.</a:t>
            </a:r>
          </a:p>
          <a:p>
            <a:pPr>
              <a:spcAft>
                <a:spcPts val="200"/>
              </a:spcAft>
              <a:defRPr sz="1200"/>
            </a:pPr>
          </a:p>
          <a:p>
            <a:pPr>
              <a:spcAft>
                <a:spcPts val="200"/>
              </a:spcAft>
              <a:defRPr sz="1200"/>
            </a:pPr>
            <a:r>
              <a:t>28/10 (5 diapositivas): 1) Portada "Leer. Cruzar. Copiar."; 2) Validar documentos; 3) Clasificar mercancías; 4) Avisar de excepciones; 5) Cierre "La IA propone. La persona decide." + logo.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2400" b="1">
                <a:solidFill>
                  <a:srgbClr val="1F3A5F"/>
                </a:solidFill>
              </a:defRPr>
            </a:pPr>
            <a:r>
              <a:t>viernes 30/10 · Cecilio Labrada</a:t>
            </a:r>
          </a:p>
          <a:p>
            <a:pPr>
              <a:defRPr sz="1300">
                <a:solidFill>
                  <a:srgbClr val="666666"/>
                </a:solidFill>
              </a:defRPr>
            </a:pPr>
            <a:r>
              <a:t>Noticias · Pain — · formato: infografía</a:t>
            </a:r>
          </a:p>
        </p:txBody>
      </p:sp>
      <p:sp>
        <p:nvSpPr>
          <p:cNvPr id="3" name="TextBox 2"/>
          <p:cNvSpPr txBox="1"/>
          <p:nvPr/>
        </p:nvSpPr>
        <p:spPr>
          <a:xfrm>
            <a:off x="640080" y="1234440"/>
            <a:ext cx="10881360" cy="5303520"/>
          </a:xfrm>
          <a:prstGeom prst="rect">
            <a:avLst/>
          </a:prstGeom>
          <a:noFill/>
        </p:spPr>
        <p:txBody>
          <a:bodyPr wrap="square">
            <a:spAutoFit/>
          </a:bodyPr>
          <a:lstStyle/>
          <a:p>
            <a:pPr>
              <a:spcAft>
                <a:spcPts val="200"/>
              </a:spcAft>
              <a:defRPr sz="1200"/>
            </a:pPr>
            <a:r>
              <a:t>1 de enero de 2026. Desde esa fecha todas las fases de ICS2 son obligatorias. Y desde el 1 de junio se han sumado Polonia, Croacia, Letonia, Rumanía y Eslovaquia.</a:t>
            </a:r>
          </a:p>
          <a:p>
            <a:pPr>
              <a:spcAft>
                <a:spcPts val="200"/>
              </a:spcAft>
              <a:defRPr sz="1200"/>
            </a:pPr>
          </a:p>
          <a:p>
            <a:pPr>
              <a:spcAft>
                <a:spcPts val="200"/>
              </a:spcAft>
              <a:defRPr sz="1200"/>
            </a:pPr>
            <a:r>
              <a:t>Esto cambia el orden del trabajo. Los datos de la mercancía ya no se completan cuando el envío está en camino: hay que tenerlos antes de que salga.</a:t>
            </a:r>
          </a:p>
          <a:p>
            <a:pPr>
              <a:spcAft>
                <a:spcPts val="200"/>
              </a:spcAft>
              <a:defRPr sz="1200"/>
            </a:pPr>
          </a:p>
          <a:p>
            <a:pPr>
              <a:spcAft>
                <a:spcPts val="200"/>
              </a:spcAft>
              <a:defRPr sz="1200"/>
            </a:pPr>
            <a:r>
              <a:t>Y ahí es donde se cuela el coste. Un dato incompleto o tardío no solo es un problema de cumplimiento: es un retraso que alguien termina pagando. Sin contar el tiempo de apagar fuegos con el cliente.</a:t>
            </a:r>
          </a:p>
          <a:p>
            <a:pPr>
              <a:spcAft>
                <a:spcPts val="200"/>
              </a:spcAft>
              <a:defRPr sz="1200"/>
            </a:pPr>
          </a:p>
          <a:p>
            <a:pPr>
              <a:spcAft>
                <a:spcPts val="200"/>
              </a:spcAft>
              <a:defRPr sz="1200"/>
            </a:pPr>
            <a:r>
              <a:t>La cotización es el primer momento para recoger esa información, no el último.</a:t>
            </a:r>
          </a:p>
          <a:p>
            <a:pPr>
              <a:spcAft>
                <a:spcPts val="200"/>
              </a:spcAft>
              <a:defRPr sz="1200"/>
            </a:pPr>
          </a:p>
          <a:p>
            <a:pPr>
              <a:spcAft>
                <a:spcPts val="200"/>
              </a:spcAft>
              <a:defRPr sz="1200"/>
            </a:pPr>
            <a:r>
              <a:t>¿Qué datos de la mercancía os piden hoy antes de aceptar un envío?</a:t>
            </a:r>
          </a:p>
          <a:p>
            <a:pPr>
              <a:spcAft>
                <a:spcPts val="200"/>
              </a:spcAft>
              <a:defRPr sz="1200"/>
            </a:pPr>
          </a:p>
          <a:p>
            <a:pPr>
              <a:spcAft>
                <a:spcPts val="200"/>
              </a:spcAft>
              <a:defRPr sz="1200"/>
            </a:pPr>
            <a:r>
              <a:t>---</a:t>
            </a:r>
          </a:p>
          <a:p>
            <a:pPr>
              <a:spcAft>
                <a:spcPts val="200"/>
              </a:spcAft>
              <a:defRPr sz="1200"/>
            </a:pPr>
          </a:p>
          <a:p>
            <a:pPr>
              <a:spcAft>
                <a:spcPts val="200"/>
              </a:spcAft>
              <a:defRPr sz="1200"/>
            </a:pPr>
            <a:r>
              <a:t>## Notas de redacción para el log</a:t>
            </a:r>
          </a:p>
          <a:p>
            <a:pPr>
              <a:spcAft>
                <a:spcPts val="200"/>
              </a:spcAft>
              <a:defRPr sz="1200"/>
            </a:pPr>
          </a:p>
          <a:p>
            <a:pPr>
              <a:spcAft>
                <a:spcPts val="200"/>
              </a:spcAft>
              <a:defRPr sz="1200"/>
            </a:pPr>
            <a:r>
              <a:t>- Marcadores pendientes: [CIFRA FLETE] (21/10, WCI Drewry vigente, no consta en las fuentes; el 4.351 $/FEU del 08/10 es anterior y no se reutiliza) y [IMPORTE TASA] (23/10).</a:t>
            </a:r>
          </a:p>
          <a:p>
            <a:pPr>
              <a:spcAft>
                <a:spcPts val="200"/>
              </a:spcAft>
              <a:defRPr sz="1200"/>
            </a:pPr>
            <a:r>
              <a:t>- Tasa de 3 EUR (23/10): el calendario dice "3 EUR por paquete", pero Noticias_Sector.txt habla de 2 EUR por envío desde 01/11 y de 3 EUR por tipo de artículo desde 01/07, sin contrastar. Se dejó el marcador en lugar del importe y se habla de fecha "prevista". Confirmar en AEAT/BOE antes de publicar y ajustar el texto.</a:t>
            </a:r>
          </a:p>
          <a:p>
            <a:pPr>
              <a:spcAft>
                <a:spcPts val="200"/>
              </a:spcAft>
              <a:defRPr sz="1200"/>
            </a:pPr>
            <a:r>
              <a:t>- 27/10: no hay cifra de coste verificada para el pain #11. Se abrió con la rebaja del Impuesto sobre Hidrocarburos (20/13/6 cts/litro, RDL 25/2026), que en Noticias_Sector.txt consta "según extracto, no verificado en BOE". Verificar antes de publicar. Fuente para el primer comentario: Trans.info (enlace en esa entrada).</a:t>
            </a:r>
          </a:p>
          <a:p>
            <a:pPr>
              <a:spcAft>
                <a:spcPts val="200"/>
              </a:spcAft>
              <a:defRPr sz="1200"/>
            </a:pPr>
            <a:r>
              <a:t>- 30/10: datos ICS2 tomados del briefing (confianza media-alta). Fuente para el primer comentario: trans.info (enlace en el briefing). Cierra con pregunta, sin enlace pegado; si se prefiere la llamada 👇 (R-01), cambiar el cierre.</a:t>
            </a:r>
          </a:p>
          <a:p>
            <a:pPr>
              <a:spcAft>
                <a:spcPts val="200"/>
              </a:spcAft>
              <a:defRPr sz="1200"/>
            </a:pPr>
            <a:r>
              <a:t>- Sin DeCA, eCMR, factura electrónica ni Verifactu. Sin hashtags (la voz no los usa). Sin enlaces pegados.</a:t>
            </a:r>
          </a:p>
          <a:p>
            <a:pPr>
              <a:spcAft>
                <a:spcPts val="200"/>
              </a:spcAft>
              <a:defRPr sz="1200"/>
            </a:pPr>
            <a:r>
              <a:t>- Hooks: 21 y 27 abren con cifra; 23 y 30 con fecha. Longitudes en torno a 650-800 caracteres, salvo el 30/10, ligeramente por encima.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