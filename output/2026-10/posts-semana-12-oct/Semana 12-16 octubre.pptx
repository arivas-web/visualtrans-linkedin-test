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515600" cy="1097280"/>
          </a:xfrm>
          <a:prstGeom prst="rect">
            <a:avLst/>
          </a:prstGeom>
          <a:noFill/>
        </p:spPr>
        <p:txBody>
          <a:bodyPr wrap="square">
            <a:spAutoFit/>
          </a:bodyPr>
          <a:lstStyle/>
          <a:p>
            <a:r>
              <a:rPr sz="4400" b="1">
                <a:solidFill>
                  <a:srgbClr val="FFFFFF"/>
                </a:solidFill>
                <a:latin typeface="Calibri"/>
              </a:rPr>
              <a:t>Calendario LinkedIn</a:t>
            </a:r>
          </a:p>
        </p:txBody>
      </p:sp>
      <p:sp>
        <p:nvSpPr>
          <p:cNvPr id="4" name="TextBox 3"/>
          <p:cNvSpPr txBox="1"/>
          <p:nvPr/>
        </p:nvSpPr>
        <p:spPr>
          <a:xfrm>
            <a:off x="731520" y="2468880"/>
            <a:ext cx="10515600" cy="731520"/>
          </a:xfrm>
          <a:prstGeom prst="rect">
            <a:avLst/>
          </a:prstGeom>
          <a:noFill/>
        </p:spPr>
        <p:txBody>
          <a:bodyPr wrap="square">
            <a:spAutoFit/>
          </a:bodyPr>
          <a:lstStyle/>
          <a:p>
            <a:r>
              <a:rPr sz="2400" b="0">
                <a:solidFill>
                  <a:srgbClr val="CFE0F0"/>
                </a:solidFill>
                <a:latin typeface="Calibri"/>
              </a:rPr>
              <a:t>Semana del 12 al 16 de octubre de 2026 · Visual Trans</a:t>
            </a:r>
          </a:p>
        </p:txBody>
      </p:sp>
      <p:sp>
        <p:nvSpPr>
          <p:cNvPr id="5" name="TextBox 4"/>
          <p:cNvSpPr txBox="1"/>
          <p:nvPr/>
        </p:nvSpPr>
        <p:spPr>
          <a:xfrm>
            <a:off x="731520" y="3657600"/>
            <a:ext cx="10515600" cy="2286000"/>
          </a:xfrm>
          <a:prstGeom prst="rect">
            <a:avLst/>
          </a:prstGeom>
          <a:noFill/>
        </p:spPr>
        <p:txBody>
          <a:bodyPr wrap="square">
            <a:spAutoFit/>
          </a:bodyPr>
          <a:lstStyle/>
          <a:p>
            <a:r>
              <a:rPr sz="1800" b="0">
                <a:solidFill>
                  <a:srgbClr val="FFFFFF"/>
                </a:solidFill>
                <a:latin typeface="Calibri"/>
              </a:rPr>
              <a:t>16 posts de martes a viernes (el lunes 12 es festivo)</a:t>
            </a:r>
          </a:p>
          <a:p>
            <a:r>
              <a:rPr sz="1800" b="0">
                <a:solidFill>
                  <a:srgbClr val="FFFFFF"/>
                </a:solidFill>
                <a:latin typeface="Calibri"/>
              </a:rPr>
              <a:t>Visual Trans 4 · Emma 3 · Cecilio 3 · Enrique 3 · Laura 3</a:t>
            </a:r>
          </a:p>
          <a:p>
            <a:r>
              <a:rPr sz="1800" b="0">
                <a:solidFill>
                  <a:srgbClr val="FFFFFF"/>
                </a:solidFill>
                <a:latin typeface="Calibri"/>
              </a:rPr>
              <a:t>Noticias 10 · Pains 5 · Caso de éxito 1</a:t>
            </a:r>
          </a:p>
          <a:p>
            <a:r>
              <a:rPr sz="1800" b="0">
                <a:solidFill>
                  <a:srgbClr val="FFFFFF"/>
                </a:solidFill>
                <a:latin typeface="Calibri"/>
              </a:rPr>
              <a:t>Noticias de octubre de 2026 · temas DeCA sin cifras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r>
              <a:rPr sz="2800" b="1">
                <a:solidFill>
                  <a:srgbClr val="FFFFFF"/>
                </a:solidFill>
                <a:latin typeface="Calibri"/>
              </a:rPr>
              <a:t>Dónde estamos: 1-9 de octubre</a:t>
            </a:r>
          </a:p>
        </p:txBody>
      </p:sp>
      <p:graphicFrame>
        <p:nvGraphicFramePr>
          <p:cNvPr id="4" name="Table 3"/>
          <p:cNvGraphicFramePr>
            <a:graphicFrameLocks noGrp="1"/>
          </p:cNvGraphicFramePr>
          <p:nvPr/>
        </p:nvGraphicFramePr>
        <p:xfrm>
          <a:off x="548640" y="1280160"/>
          <a:ext cx="11064240" cy="2377440"/>
        </p:xfrm>
        <a:graphic>
          <a:graphicData uri="http://schemas.openxmlformats.org/drawingml/2006/table">
            <a:tbl>
              <a:tblPr firstRow="1" bandRow="1">
                <a:tableStyleId>{5C22544A-7EE6-4342-B048-85BDC9FD1C3A}</a:tableStyleId>
              </a:tblPr>
              <a:tblGrid>
                <a:gridCol w="2766060"/>
                <a:gridCol w="2766060"/>
                <a:gridCol w="2766060"/>
                <a:gridCol w="2766060"/>
              </a:tblGrid>
              <a:tr h="475488">
                <a:tc>
                  <a:txBody>
                    <a:bodyPr/>
                    <a:lstStyle/>
                    <a:p>
                      <a:r>
                        <a:rPr sz="1600" b="1"/>
                        <a:t> </a:t>
                      </a:r>
                    </a:p>
                  </a:txBody>
                  <a:tcPr/>
                </a:tc>
                <a:tc>
                  <a:txBody>
                    <a:bodyPr/>
                    <a:lstStyle/>
                    <a:p>
                      <a:r>
                        <a:rPr sz="1600" b="1"/>
                        <a:t>Llevamos</a:t>
                      </a:r>
                    </a:p>
                  </a:txBody>
                  <a:tcPr/>
                </a:tc>
                <a:tc>
                  <a:txBody>
                    <a:bodyPr/>
                    <a:lstStyle/>
                    <a:p>
                      <a:r>
                        <a:rPr sz="1600" b="1"/>
                        <a:t>Objetivo mes</a:t>
                      </a:r>
                    </a:p>
                  </a:txBody>
                  <a:tcPr/>
                </a:tc>
                <a:tc>
                  <a:txBody>
                    <a:bodyPr/>
                    <a:lstStyle/>
                    <a:p>
                      <a:r>
                        <a:rPr sz="1600" b="1"/>
                        <a:t>Estado</a:t>
                      </a:r>
                    </a:p>
                  </a:txBody>
                  <a:tcPr/>
                </a:tc>
              </a:tr>
              <a:tr h="475488">
                <a:tc>
                  <a:txBody>
                    <a:bodyPr/>
                    <a:lstStyle/>
                    <a:p>
                      <a:r>
                        <a:rPr sz="1600" b="0"/>
                        <a:t>Personales · impresiones</a:t>
                      </a:r>
                    </a:p>
                  </a:txBody>
                  <a:tcPr/>
                </a:tc>
                <a:tc>
                  <a:txBody>
                    <a:bodyPr/>
                    <a:lstStyle/>
                    <a:p>
                      <a:r>
                        <a:rPr sz="1600" b="0"/>
                        <a:t>7.112</a:t>
                      </a:r>
                    </a:p>
                  </a:txBody>
                  <a:tcPr/>
                </a:tc>
                <a:tc>
                  <a:txBody>
                    <a:bodyPr/>
                    <a:lstStyle/>
                    <a:p>
                      <a:r>
                        <a:rPr sz="1600" b="0"/>
                        <a:t>35.000</a:t>
                      </a:r>
                    </a:p>
                  </a:txBody>
                  <a:tcPr/>
                </a:tc>
                <a:tc>
                  <a:txBody>
                    <a:bodyPr/>
                    <a:lstStyle/>
                    <a:p>
                      <a:r>
                        <a:rPr sz="1600" b="0"/>
                        <a:t>Hay que subir el ritmo ~80 %</a:t>
                      </a:r>
                    </a:p>
                  </a:txBody>
                  <a:tcPr/>
                </a:tc>
              </a:tr>
              <a:tr h="475488">
                <a:tc>
                  <a:txBody>
                    <a:bodyPr/>
                    <a:lstStyle/>
                    <a:p>
                      <a:r>
                        <a:rPr sz="1600" b="0"/>
                        <a:t>Personales · interacciones</a:t>
                      </a:r>
                    </a:p>
                  </a:txBody>
                  <a:tcPr/>
                </a:tc>
                <a:tc>
                  <a:txBody>
                    <a:bodyPr/>
                    <a:lstStyle/>
                    <a:p>
                      <a:r>
                        <a:rPr sz="1600" b="0"/>
                        <a:t>184</a:t>
                      </a:r>
                    </a:p>
                  </a:txBody>
                  <a:tcPr/>
                </a:tc>
                <a:tc>
                  <a:txBody>
                    <a:bodyPr/>
                    <a:lstStyle/>
                    <a:p>
                      <a:r>
                        <a:rPr sz="1600" b="0"/>
                        <a:t>550</a:t>
                      </a:r>
                    </a:p>
                  </a:txBody>
                  <a:tcPr/>
                </a:tc>
                <a:tc>
                  <a:txBody>
                    <a:bodyPr/>
                    <a:lstStyle/>
                    <a:p>
                      <a:r>
                        <a:rPr sz="1600" b="0"/>
                        <a:t>En ritmo</a:t>
                      </a:r>
                    </a:p>
                  </a:txBody>
                  <a:tcPr/>
                </a:tc>
              </a:tr>
              <a:tr h="475488">
                <a:tc>
                  <a:txBody>
                    <a:bodyPr/>
                    <a:lstStyle/>
                    <a:p>
                      <a:r>
                        <a:rPr sz="1600" b="0"/>
                        <a:t>Visual Trans · impresiones</a:t>
                      </a:r>
                    </a:p>
                  </a:txBody>
                  <a:tcPr/>
                </a:tc>
                <a:tc>
                  <a:txBody>
                    <a:bodyPr/>
                    <a:lstStyle/>
                    <a:p>
                      <a:r>
                        <a:rPr sz="1600" b="0"/>
                        <a:t>4.498</a:t>
                      </a:r>
                    </a:p>
                  </a:txBody>
                  <a:tcPr/>
                </a:tc>
                <a:tc>
                  <a:txBody>
                    <a:bodyPr/>
                    <a:lstStyle/>
                    <a:p>
                      <a:r>
                        <a:rPr sz="1600" b="0"/>
                        <a:t>15.000</a:t>
                      </a:r>
                    </a:p>
                  </a:txBody>
                  <a:tcPr/>
                </a:tc>
                <a:tc>
                  <a:txBody>
                    <a:bodyPr/>
                    <a:lstStyle/>
                    <a:p>
                      <a:r>
                        <a:rPr sz="1600" b="0"/>
                        <a:t>Casi en ritmo (+9 %)</a:t>
                      </a:r>
                    </a:p>
                  </a:txBody>
                  <a:tcPr/>
                </a:tc>
              </a:tr>
              <a:tr h="475488">
                <a:tc>
                  <a:txBody>
                    <a:bodyPr/>
                    <a:lstStyle/>
                    <a:p>
                      <a:r>
                        <a:rPr sz="1600" b="0"/>
                        <a:t>Visual Trans · interacciones</a:t>
                      </a:r>
                    </a:p>
                  </a:txBody>
                  <a:tcPr/>
                </a:tc>
                <a:tc>
                  <a:txBody>
                    <a:bodyPr/>
                    <a:lstStyle/>
                    <a:p>
                      <a:r>
                        <a:rPr sz="1600" b="0"/>
                        <a:t>157</a:t>
                      </a:r>
                    </a:p>
                  </a:txBody>
                  <a:tcPr/>
                </a:tc>
                <a:tc>
                  <a:txBody>
                    <a:bodyPr/>
                    <a:lstStyle/>
                    <a:p>
                      <a:r>
                        <a:rPr sz="1600" b="0"/>
                        <a:t>333</a:t>
                      </a:r>
                    </a:p>
                  </a:txBody>
                  <a:tcPr/>
                </a:tc>
                <a:tc>
                  <a:txBody>
                    <a:bodyPr/>
                    <a:lstStyle/>
                    <a:p>
                      <a:r>
                        <a:rPr sz="1600" b="0"/>
                        <a:t>Por delante</a:t>
                      </a:r>
                    </a:p>
                  </a:txBody>
                  <a:tcPr/>
                </a:tc>
              </a:tr>
            </a:tbl>
          </a:graphicData>
        </a:graphic>
      </p:graphicFrame>
      <p:sp>
        <p:nvSpPr>
          <p:cNvPr id="5" name="TextBox 4"/>
          <p:cNvSpPr txBox="1"/>
          <p:nvPr/>
        </p:nvSpPr>
        <p:spPr>
          <a:xfrm>
            <a:off x="548640" y="3931920"/>
            <a:ext cx="11064240" cy="2651760"/>
          </a:xfrm>
          <a:prstGeom prst="rect">
            <a:avLst/>
          </a:prstGeom>
          <a:noFill/>
        </p:spPr>
        <p:txBody>
          <a:bodyPr wrap="square">
            <a:spAutoFit/>
          </a:bodyPr>
          <a:lstStyle/>
          <a:p>
            <a:r>
              <a:rPr sz="1500" b="0">
                <a:solidFill>
                  <a:srgbClr val="555F6B"/>
                </a:solidFill>
                <a:latin typeface="Calibri"/>
              </a:rPr>
              <a:t>Lo que ha funcionado: normativa del momento con cifra en la apertura y menciones (VT "Personas" 1.658; Emma webinar DeCA 1.051; Enrique dudas del DeCA 899, el doble de su mediana).</a:t>
            </a:r>
          </a:p>
          <a:p>
            <a:r>
              <a:rPr sz="1500" b="0">
                <a:solidFill>
                  <a:srgbClr val="555F6B"/>
                </a:solidFill>
                <a:latin typeface="Calibri"/>
              </a:rPr>
              <a:t>Lo que no: pains o tendencias sin noticia detrás (Enrique visibilidad 308; Laura IA 323; Cecilio contenedores vacíos 360).</a:t>
            </a:r>
          </a:p>
          <a:p>
            <a:r>
              <a:rPr sz="1500" b="0">
                <a:solidFill>
                  <a:srgbClr val="555F6B"/>
                </a:solidFill>
                <a:latin typeface="Calibri"/>
              </a:rPr>
              <a:t>Previsión de la semana: personales 7.000-8.500 impresiones (necesario ~9.300); VT 3.000-4.000 (necesario ~3.500).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r>
              <a:rPr sz="2800" b="1">
                <a:solidFill>
                  <a:srgbClr val="FFFFFF"/>
                </a:solidFill>
                <a:latin typeface="Calibri"/>
              </a:rPr>
              <a:t>Aprendizajes y experimentos que aplicamos</a:t>
            </a:r>
          </a:p>
        </p:txBody>
      </p:sp>
      <p:sp>
        <p:nvSpPr>
          <p:cNvPr id="4" name="TextBox 3"/>
          <p:cNvSpPr txBox="1"/>
          <p:nvPr/>
        </p:nvSpPr>
        <p:spPr>
          <a:xfrm>
            <a:off x="548640" y="1188720"/>
            <a:ext cx="5669280" cy="5486400"/>
          </a:xfrm>
          <a:prstGeom prst="rect">
            <a:avLst/>
          </a:prstGeom>
          <a:noFill/>
        </p:spPr>
        <p:txBody>
          <a:bodyPr wrap="square">
            <a:spAutoFit/>
          </a:bodyPr>
          <a:lstStyle/>
          <a:p>
            <a:r>
              <a:rPr sz="1500" b="0">
                <a:solidFill>
                  <a:srgbClr val="0B2A4A"/>
                </a:solidFill>
                <a:latin typeface="Calibri"/>
              </a:rPr>
              <a:t>Aprendizajes</a:t>
            </a:r>
          </a:p>
          <a:p>
            <a:r>
              <a:rPr sz="1500" b="0">
                <a:solidFill>
                  <a:srgbClr val="0B2A4A"/>
                </a:solidFill>
                <a:latin typeface="Calibri"/>
              </a:rPr>
              <a:t>• Normativa rinde +40 %: 7 de 10 noticias son normativa</a:t>
            </a:r>
          </a:p>
          <a:p>
            <a:r>
              <a:rPr sz="1500" b="0">
                <a:solidFill>
                  <a:srgbClr val="0B2A4A"/>
                </a:solidFill>
                <a:latin typeface="Calibri"/>
              </a:rPr>
              <a:t>• Ferias: mucha conversación, poco alcance → ningún resumen</a:t>
            </a:r>
          </a:p>
          <a:p>
            <a:r>
              <a:rPr sz="1500" b="0">
                <a:solidFill>
                  <a:srgbClr val="0B2A4A"/>
                </a:solidFill>
                <a:latin typeface="Calibri"/>
              </a:rPr>
              <a:t>• Apertura con cifra en posts de alcance (no en DeCA)</a:t>
            </a:r>
          </a:p>
          <a:p>
            <a:r>
              <a:rPr sz="1500" b="0">
                <a:solidFill>
                  <a:srgbClr val="0B2A4A"/>
                </a:solidFill>
                <a:latin typeface="Calibri"/>
              </a:rPr>
              <a:t>• Fuente en el primer comentario 👇 (+35 %)</a:t>
            </a:r>
          </a:p>
          <a:p>
            <a:r>
              <a:rPr sz="1500" b="0">
                <a:solidFill>
                  <a:srgbClr val="0B2A4A"/>
                </a:solidFill>
                <a:latin typeface="Calibri"/>
              </a:rPr>
              <a:t>• 500-800 caracteres</a:t>
            </a:r>
          </a:p>
          <a:p>
            <a:r>
              <a:rPr sz="1500" b="0">
                <a:solidFill>
                  <a:srgbClr val="0B2A4A"/>
                </a:solidFill>
                <a:latin typeface="Calibri"/>
              </a:rPr>
              <a:t>• Menciones a organizaciones (+16 % engagement)</a:t>
            </a:r>
          </a:p>
          <a:p>
            <a:r>
              <a:rPr sz="1500" b="0">
                <a:solidFill>
                  <a:srgbClr val="0B2A4A"/>
                </a:solidFill>
                <a:latin typeface="Calibri"/>
              </a:rPr>
              <a:t>• Imagen o carrusel, nunca enlace como formato</a:t>
            </a:r>
          </a:p>
          <a:p>
            <a:r>
              <a:rPr sz="1500" b="0">
                <a:solidFill>
                  <a:srgbClr val="0B2A4A"/>
                </a:solidFill>
                <a:latin typeface="Calibri"/>
              </a:rPr>
              <a:t>• Laura: reflexión directa en solo texto</a:t>
            </a:r>
          </a:p>
          <a:p>
            <a:r>
              <a:rPr sz="1500" b="0">
                <a:solidFill>
                  <a:srgbClr val="0B2A4A"/>
                </a:solidFill>
                <a:latin typeface="Calibri"/>
              </a:rPr>
              <a:t>• Pain #9 (soporte), el que mejor rinde</a:t>
            </a:r>
          </a:p>
          <a:p>
            <a:r>
              <a:rPr sz="1500" b="0">
                <a:solidFill>
                  <a:srgbClr val="0B2A4A"/>
                </a:solidFill>
                <a:latin typeface="Calibri"/>
              </a:rPr>
              <a:t>• Mismo tema, nunca el mismo texto el mismo día</a:t>
            </a:r>
          </a:p>
        </p:txBody>
      </p:sp>
      <p:sp>
        <p:nvSpPr>
          <p:cNvPr id="5" name="TextBox 4"/>
          <p:cNvSpPr txBox="1"/>
          <p:nvPr/>
        </p:nvSpPr>
        <p:spPr>
          <a:xfrm>
            <a:off x="6400800" y="1188720"/>
            <a:ext cx="5303520" cy="5486400"/>
          </a:xfrm>
          <a:prstGeom prst="rect">
            <a:avLst/>
          </a:prstGeom>
          <a:noFill/>
        </p:spPr>
        <p:txBody>
          <a:bodyPr wrap="square">
            <a:spAutoFit/>
          </a:bodyPr>
          <a:lstStyle/>
          <a:p>
            <a:r>
              <a:rPr sz="1500" b="0">
                <a:solidFill>
                  <a:srgbClr val="0B2A4A"/>
                </a:solidFill>
                <a:latin typeface="Calibri"/>
              </a:rPr>
              <a:t>Experimentos</a:t>
            </a:r>
          </a:p>
          <a:p>
            <a:r>
              <a:rPr sz="1500" b="0">
                <a:solidFill>
                  <a:srgbClr val="0B2A4A"/>
                </a:solidFill>
                <a:latin typeface="Calibri"/>
              </a:rPr>
              <a:t>• E-C1 · Hora: antes de las 10:00 frente a 12:00-13:30 (VT, Emma, Laura)</a:t>
            </a:r>
          </a:p>
          <a:p>
            <a:r>
              <a:rPr sz="1500" b="0">
                <a:solidFill>
                  <a:srgbClr val="0B2A4A"/>
                </a:solidFill>
                <a:latin typeface="Calibri"/>
              </a:rPr>
              <a:t>• E-R1 · Apertura con cifra frente a pregunta</a:t>
            </a:r>
          </a:p>
          <a:p>
            <a:r>
              <a:rPr sz="1500" b="0">
                <a:solidFill>
                  <a:srgbClr val="0B2A4A"/>
                </a:solidFill>
                <a:latin typeface="Calibri"/>
              </a:rPr>
              <a:t>• E-R2 · Tariff Code: producto + 2 códigos + € (Enrique, martes)</a:t>
            </a:r>
          </a:p>
          <a:p>
            <a:r>
              <a:rPr sz="1500" b="0">
                <a:solidFill>
                  <a:srgbClr val="0B2A4A"/>
                </a:solidFill>
                <a:latin typeface="Calibri"/>
              </a:rPr>
              <a:t>• E-C2 · Imagen frente a carrusel en pains de VT (imagen el miércoles)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13/10 · 08:45</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Pains · Pain #14</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 corto provocador</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La persona nueva no es el problema.</a:t>
            </a:r>
          </a:p>
          <a:p>
            <a:r>
              <a:rPr sz="1500" b="0">
                <a:solidFill>
                  <a:srgbClr val="222222"/>
                </a:solidFill>
                <a:latin typeface="Calibri"/>
              </a:rPr>
              <a:t/>
            </a:r>
          </a:p>
          <a:p>
            <a:r>
              <a:rPr sz="1500" b="0">
                <a:solidFill>
                  <a:srgbClr val="222222"/>
                </a:solidFill>
                <a:latin typeface="Calibri"/>
              </a:rPr>
              <a:t>Llega, se sienta y durante meses pregunta cada cosa. Cómo se abre este expediente, dónde va ese dato, qué pantalla toca ahora. Y alguien con experiencia para lo suyo, otra vez, para explicárselo.</a:t>
            </a:r>
          </a:p>
          <a:p>
            <a:r>
              <a:rPr sz="1500" b="0">
                <a:solidFill>
                  <a:srgbClr val="222222"/>
                </a:solidFill>
                <a:latin typeface="Calibri"/>
              </a:rPr>
              <a:t/>
            </a:r>
          </a:p>
          <a:p>
            <a:r>
              <a:rPr sz="1500" b="0">
                <a:solidFill>
                  <a:srgbClr val="222222"/>
                </a:solidFill>
                <a:latin typeface="Calibri"/>
              </a:rPr>
              <a:t>Seamos claros: no es falta de talento. Es una herramienta que solo entiende quien lleva años peleándose con ella.</a:t>
            </a:r>
          </a:p>
          <a:p>
            <a:r>
              <a:rPr sz="1500" b="0">
                <a:solidFill>
                  <a:srgbClr val="222222"/>
                </a:solidFill>
                <a:latin typeface="Calibri"/>
              </a:rPr>
              <a:t/>
            </a:r>
          </a:p>
          <a:p>
            <a:r>
              <a:rPr sz="1500" b="0">
                <a:solidFill>
                  <a:srgbClr val="222222"/>
                </a:solidFill>
                <a:latin typeface="Calibri"/>
              </a:rPr>
              <a:t>Y aunque en la oficina se asuma como normal, tiene un coste. Tu gente más veterana convertida en manual de instrucciones. Tu equipo nuevo sin poder operar de verdad.</a:t>
            </a:r>
          </a:p>
          <a:p>
            <a:r>
              <a:rPr sz="1500" b="0">
                <a:solidFill>
                  <a:srgbClr val="222222"/>
                </a:solidFill>
                <a:latin typeface="Calibri"/>
              </a:rPr>
              <a:t/>
            </a:r>
          </a:p>
          <a:p>
            <a:r>
              <a:rPr sz="1500" b="0">
                <a:solidFill>
                  <a:srgbClr val="222222"/>
                </a:solidFill>
                <a:latin typeface="Calibri"/>
              </a:rPr>
              <a:t>Porque si nunca has visto la alternativa, lo normalizas.</a:t>
            </a:r>
          </a:p>
          <a:p>
            <a:r>
              <a:rPr sz="1500" b="0">
                <a:solidFill>
                  <a:srgbClr val="222222"/>
                </a:solidFill>
                <a:latin typeface="Calibri"/>
              </a:rPr>
              <a:t/>
            </a:r>
          </a:p>
          <a:p>
            <a:r>
              <a:rPr sz="1500" b="0">
                <a:solidFill>
                  <a:srgbClr val="222222"/>
                </a:solidFill>
                <a:latin typeface="Calibri"/>
              </a:rPr>
              <a:t>¿Cuánto tarda alguien nuevo en tu equipo en dejar de preguntar?</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"¿Cuánto tarda alguien nuevo en dejar de preguntar?": si una herramienta necesita meses de formación para que una persona sea autónoma, el problema no es la persona. Reflexión directa</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pain no usado este 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13/10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300" b="0">
                <a:solidFill>
                  <a:srgbClr val="222222"/>
                </a:solidFill>
                <a:latin typeface="Calibri"/>
              </a:rPr>
              <a:t>82,32 € por tonelada de CO2.</a:t>
            </a:r>
          </a:p>
          <a:p>
            <a:r>
              <a:rPr sz="1300" b="0">
                <a:solidFill>
                  <a:srgbClr val="222222"/>
                </a:solidFill>
                <a:latin typeface="Calibri"/>
              </a:rPr>
              <a:t/>
            </a:r>
          </a:p>
          <a:p>
            <a:r>
              <a:rPr sz="1300" b="0">
                <a:solidFill>
                  <a:srgbClr val="222222"/>
                </a:solidFill>
                <a:latin typeface="Calibri"/>
              </a:rPr>
              <a:t>Es el precio de referencia del certificado CBAM del tercer trimestre de 2026, publicado el 5 de octubre por la Comisión Europea. En el primer trimestre fue de 75,36 € y en el segundo, de 75,28 €.</a:t>
            </a:r>
          </a:p>
          <a:p>
            <a:r>
              <a:rPr sz="1300" b="0">
                <a:solidFill>
                  <a:srgbClr val="222222"/>
                </a:solidFill>
                <a:latin typeface="Calibri"/>
              </a:rPr>
              <a:t/>
            </a:r>
          </a:p>
          <a:p>
            <a:r>
              <a:rPr sz="1300" b="0">
                <a:solidFill>
                  <a:srgbClr val="222222"/>
                </a:solidFill>
                <a:latin typeface="Calibri"/>
              </a:rPr>
              <a:t>Pero lo importante no es el precio. Es cuándo se paga.</a:t>
            </a:r>
          </a:p>
          <a:p>
            <a:r>
              <a:rPr sz="1300" b="0">
                <a:solidFill>
                  <a:srgbClr val="222222"/>
                </a:solidFill>
                <a:latin typeface="Calibri"/>
              </a:rPr>
              <a:t/>
            </a:r>
          </a:p>
          <a:p>
            <a:r>
              <a:rPr sz="1300" b="0">
                <a:solidFill>
                  <a:srgbClr val="222222"/>
                </a:solidFill>
                <a:latin typeface="Calibri"/>
              </a:rPr>
              <a:t>CBAM está en periodo definitivo desde el 1 de enero de 2026. Los certificados se compran desde febrero de 2027 y la primera declaración anual, con las importaciones de este año, vence el 30 de septiembre de 2027. El coste de 2026 es retroactivo.</a:t>
            </a:r>
          </a:p>
          <a:p>
            <a:r>
              <a:rPr sz="1300" b="0">
                <a:solidFill>
                  <a:srgbClr val="222222"/>
                </a:solidFill>
                <a:latin typeface="Calibri"/>
              </a:rPr>
              <a:t/>
            </a:r>
          </a:p>
          <a:p>
            <a:r>
              <a:rPr sz="1300" b="0">
                <a:solidFill>
                  <a:srgbClr val="222222"/>
                </a:solidFill>
                <a:latin typeface="Calibri"/>
              </a:rPr>
              <a:t>Lo que debe tener controlado quien importa, y su representante aduanero:</a:t>
            </a:r>
          </a:p>
          <a:p>
            <a:r>
              <a:rPr sz="1300" b="0">
                <a:solidFill>
                  <a:srgbClr val="222222"/>
                </a:solidFill>
                <a:latin typeface="Calibri"/>
              </a:rPr>
              <a:t/>
            </a:r>
          </a:p>
          <a:p>
            <a:r>
              <a:rPr sz="1300" b="0">
                <a:solidFill>
                  <a:srgbClr val="222222"/>
                </a:solidFill>
                <a:latin typeface="Calibri"/>
              </a:rPr>
              <a:t>✅ Ser declarante CBAM autorizado: sin ello no se pueden importar mercancías del Anexo I (acero, aluminio, cemento, fertilizantes, entre otras).</a:t>
            </a:r>
          </a:p>
          <a:p>
            <a:r>
              <a:rPr sz="1300" b="0">
                <a:solidFill>
                  <a:srgbClr val="222222"/>
                </a:solidFill>
                <a:latin typeface="Calibri"/>
              </a:rPr>
              <a:t>✅ Saber qué mercancías de cada operación entran en el Anexo I.</a:t>
            </a:r>
          </a:p>
          <a:p>
            <a:r>
              <a:rPr sz="1300" b="0">
                <a:solidFill>
                  <a:srgbClr val="222222"/>
                </a:solidFill>
                <a:latin typeface="Calibri"/>
              </a:rPr>
              <a:t>✅ Llevar al día lo importado en 2026, porque la declaración lo recogerá.</a:t>
            </a:r>
          </a:p>
          <a:p>
            <a:r>
              <a:rPr sz="1300" b="0">
                <a:solidFill>
                  <a:srgbClr val="222222"/>
                </a:solidFill>
                <a:latin typeface="Calibri"/>
              </a:rPr>
              <a:t/>
            </a:r>
          </a:p>
          <a:p>
            <a:r>
              <a:rPr sz="1300" b="0">
                <a:solidFill>
                  <a:srgbClr val="222222"/>
                </a:solidFill>
                <a:latin typeface="Calibri"/>
              </a:rPr>
              <a:t>En España, @MITECO gestiona el Registro CBAM y la @Agencia Tributaria controla en frontera.</a:t>
            </a:r>
          </a:p>
          <a:p>
            <a:r>
              <a:rPr sz="1300" b="0">
                <a:solidFill>
                  <a:srgbClr val="222222"/>
                </a:solidFill>
                <a:latin typeface="Calibri"/>
              </a:rPr>
              <a:t/>
            </a:r>
          </a:p>
          <a:p>
            <a:r>
              <a:rPr sz="1300" b="0">
                <a:solidFill>
                  <a:srgbClr val="222222"/>
                </a:solidFill>
                <a:latin typeface="Calibri"/>
              </a:rPr>
              <a:t>No es solo una cuestión de precio; es llevar la cuenta desde hoy.</a:t>
            </a:r>
          </a:p>
          <a:p>
            <a:r>
              <a:rPr sz="1300" b="0">
                <a:solidFill>
                  <a:srgbClr val="222222"/>
                </a:solidFill>
                <a:latin typeface="Calibri"/>
              </a:rPr>
              <a:t/>
            </a:r>
          </a:p>
          <a:p>
            <a:r>
              <a:rPr sz="13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CBAM: el coste de 2026 se paga en 2027: la Comisión publicó el 05/10 el precio de referencia del certificado CBAM del tercer trimestre (82,32 €/t CO2, frente a 75,28 € del segundo). Quien importa acero, aluminio, cemento o fertilizantes ya está generando un coste que se liquida con la primera declaración anual (30/09/2027). Qué debe tener controlado el importador y su representante aduanero. Fuentes: gmk.center (05/1…</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E-C1 brazo A · E-R1 cifra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13/10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Pains · Pain #8</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(comparativa de las 3 respuestas)</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Una freidora de aire, dos códigos posibles y [IMPORTE €] de diferencia.</a:t>
            </a:r>
          </a:p>
          <a:p>
            <a:r>
              <a:rPr sz="1500" b="0">
                <a:solidFill>
                  <a:srgbClr val="222222"/>
                </a:solidFill>
                <a:latin typeface="Calibri"/>
              </a:rPr>
              <a:t/>
            </a:r>
          </a:p>
          <a:p>
            <a:r>
              <a:rPr sz="1500" b="0">
                <a:solidFill>
                  <a:srgbClr val="222222"/>
                </a:solidFill>
                <a:latin typeface="Calibri"/>
              </a:rPr>
              <a:t>Marta importa freidoras de aire y tiene que declararlas. Pregunta en un buscador y se encuentra con enlaces y foros: tiene que leerlos todos y decidir ella.</a:t>
            </a:r>
          </a:p>
          <a:p>
            <a:r>
              <a:rPr sz="1500" b="0">
                <a:solidFill>
                  <a:srgbClr val="222222"/>
                </a:solidFill>
                <a:latin typeface="Calibri"/>
              </a:rPr>
              <a:t/>
            </a:r>
          </a:p>
          <a:p>
            <a:r>
              <a:rPr sz="1500" b="0">
                <a:solidFill>
                  <a:srgbClr val="222222"/>
                </a:solidFill>
                <a:latin typeface="Calibri"/>
              </a:rPr>
              <a:t>Pregunta a un chat de IA generalista y recibe una respuesta que suena convincente. Sin justificación que pueda verificar y sin garantía de que esté actualizada.</a:t>
            </a:r>
          </a:p>
          <a:p>
            <a:r>
              <a:rPr sz="1500" b="0">
                <a:solidFill>
                  <a:srgbClr val="222222"/>
                </a:solidFill>
                <a:latin typeface="Calibri"/>
              </a:rPr>
              <a:t/>
            </a:r>
          </a:p>
          <a:p>
            <a:r>
              <a:rPr sz="1500" b="0">
                <a:solidFill>
                  <a:srgbClr val="222222"/>
                </a:solidFill>
                <a:latin typeface="Calibri"/>
              </a:rPr>
              <a:t>Entre [CÓDIGO A] y [CÓDIGO B] hay un [X %] de diferencia de arancel. En un contenedor de 100.000 €, eso son [IMPORTE €].</a:t>
            </a:r>
          </a:p>
          <a:p>
            <a:r>
              <a:rPr sz="1500" b="0">
                <a:solidFill>
                  <a:srgbClr val="222222"/>
                </a:solidFill>
                <a:latin typeface="Calibri"/>
              </a:rPr>
              <a:t/>
            </a:r>
          </a:p>
          <a:p>
            <a:r>
              <a:rPr sz="1500" b="0">
                <a:solidFill>
                  <a:srgbClr val="222222"/>
                </a:solidFill>
                <a:latin typeface="Calibri"/>
              </a:rPr>
              <a:t>Con Tariff Code lo haces en tres pasos:</a:t>
            </a:r>
          </a:p>
          <a:p>
            <a:r>
              <a:rPr sz="1500" b="0">
                <a:solidFill>
                  <a:srgbClr val="222222"/>
                </a:solidFill>
                <a:latin typeface="Calibri"/>
              </a:rPr>
              <a:t/>
            </a:r>
          </a:p>
          <a:p>
            <a:r>
              <a:rPr sz="1500" b="0">
                <a:solidFill>
                  <a:srgbClr val="222222"/>
                </a:solidFill>
                <a:latin typeface="Calibri"/>
              </a:rPr>
              <a:t>✔️ Escribes el producto.</a:t>
            </a:r>
          </a:p>
          <a:p>
            <a:r>
              <a:rPr sz="1500" b="0">
                <a:solidFill>
                  <a:srgbClr val="222222"/>
                </a:solidFill>
                <a:latin typeface="Calibri"/>
              </a:rPr>
              <a:t>✔️ Obtienes el código.</a:t>
            </a:r>
          </a:p>
          <a:p>
            <a:r>
              <a:rPr sz="1500" b="0">
                <a:solidFill>
                  <a:srgbClr val="222222"/>
                </a:solidFill>
                <a:latin typeface="Calibri"/>
              </a:rPr>
              <a:t>✔️ Lo ves con su justificación y sus referencias.</a:t>
            </a:r>
          </a:p>
          <a:p>
            <a:r>
              <a:rPr sz="1500" b="0">
                <a:solidFill>
                  <a:srgbClr val="222222"/>
                </a:solidFill>
                <a:latin typeface="Calibri"/>
              </a:rPr>
              <a:t/>
            </a:r>
          </a:p>
          <a:p>
            <a:r>
              <a:rPr sz="1500" b="0">
                <a:solidFill>
                  <a:srgbClr val="222222"/>
                </a:solidFill>
                <a:latin typeface="Calibri"/>
              </a:rPr>
              <a:t>No es solo una respuesta, es una respuesta que puedes defender ante la aduana.</a:t>
            </a:r>
          </a:p>
          <a:p>
            <a:r>
              <a:rPr sz="1500" b="0">
                <a:solidFill>
                  <a:srgbClr val="222222"/>
                </a:solidFill>
                <a:latin typeface="Calibri"/>
              </a:rPr>
              <a:t/>
            </a:r>
          </a:p>
          <a:p>
            <a:r>
              <a:rPr sz="1500" b="0">
                <a:solidFill>
                  <a:srgbClr val="222222"/>
                </a:solidFill>
                <a:latin typeface="Calibri"/>
              </a:rPr>
              <a:t>Una herramienta especializada no te da una opinión; te da el código y el porqué.</a:t>
            </a:r>
          </a:p>
          <a:p>
            <a:r>
              <a:rPr sz="1500" b="0">
                <a:solidFill>
                  <a:srgbClr val="222222"/>
                </a:solidFill>
                <a:latin typeface="Calibri"/>
              </a:rPr>
              <a:t/>
            </a:r>
          </a:p>
          <a:p>
            <a:r>
              <a:rPr sz="1500" b="0">
                <a:solidFill>
                  <a:srgbClr val="222222"/>
                </a:solidFill>
                <a:latin typeface="Calibri"/>
              </a:rPr>
              <a:t>👇 Te dejo el enlace para probarlo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Tariff Code frente a Google y frente a un LLM generalista: el mismo producto cotidiano buscado en Google, preguntado a un chat de IA generalista y clasificado con Tariff Code. Dos códigos posibles y la diferencia en euros de arancel; la herramienta generalista da una respuesta que suena bien, la especializada da el código con su justificación. Códigos y % reales, comprobados con Tariff Code antes de redactar; sin nom…</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A-04, R-04, R-EN1 · E-R2 brazo 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Martes 13/10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de dato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2.313 $/TEU. Un 4,6 % menos.</a:t>
            </a:r>
          </a:p>
          <a:p>
            <a:r>
              <a:rPr sz="1500" b="0">
                <a:solidFill>
                  <a:srgbClr val="222222"/>
                </a:solidFill>
                <a:latin typeface="Calibri"/>
              </a:rPr>
              <a:t/>
            </a:r>
          </a:p>
          <a:p>
            <a:r>
              <a:rPr sz="1500" b="0">
                <a:solidFill>
                  <a:srgbClr val="222222"/>
                </a:solidFill>
                <a:latin typeface="Calibri"/>
              </a:rPr>
              <a:t>Es el flete spot Asia-Europa hacia los puertos base europeos, según DataPortuaria (octubre). Lo explica el desequilibrio entre oferta de buques y demanda, y Cadena de Suministro apunta a la Golden Week y a la recuperación del tránsito por Suez.</a:t>
            </a:r>
          </a:p>
          <a:p>
            <a:r>
              <a:rPr sz="1500" b="0">
                <a:solidFill>
                  <a:srgbClr val="222222"/>
                </a:solidFill>
                <a:latin typeface="Calibri"/>
              </a:rPr>
              <a:t/>
            </a:r>
          </a:p>
          <a:p>
            <a:r>
              <a:rPr sz="1500" b="0">
                <a:solidFill>
                  <a:srgbClr val="222222"/>
                </a:solidFill>
                <a:latin typeface="Calibri"/>
              </a:rPr>
              <a:t>Pero hay otra cara. Hapag-Lloyd y CMA CGM anuncian subidas generales hacia Latinoamérica, aunque su aplicación real dependerá del mercado.</a:t>
            </a:r>
          </a:p>
          <a:p>
            <a:r>
              <a:rPr sz="1500" b="0">
                <a:solidFill>
                  <a:srgbClr val="222222"/>
                </a:solidFill>
                <a:latin typeface="Calibri"/>
              </a:rPr>
              <a:t/>
            </a:r>
          </a:p>
          <a:p>
            <a:r>
              <a:rPr sz="1500" b="0">
                <a:solidFill>
                  <a:srgbClr val="222222"/>
                </a:solidFill>
                <a:latin typeface="Calibri"/>
              </a:rPr>
              <a:t>El problema no es que el flete se mueva. El problema es cotizar con la tarifa de hace dos semanas.</a:t>
            </a:r>
          </a:p>
          <a:p>
            <a:r>
              <a:rPr sz="1500" b="0">
                <a:solidFill>
                  <a:srgbClr val="222222"/>
                </a:solidFill>
                <a:latin typeface="Calibri"/>
              </a:rPr>
              <a:t/>
            </a:r>
          </a:p>
          <a:p>
            <a:r>
              <a:rPr sz="1500" b="0">
                <a:solidFill>
                  <a:srgbClr val="222222"/>
                </a:solidFill>
                <a:latin typeface="Calibri"/>
              </a:rPr>
              <a:t>¿Cuántas de tus ofertas de esta semana salen con el coste de hoy?</a:t>
            </a:r>
          </a:p>
          <a:p>
            <a:r>
              <a:rPr sz="1500" b="0">
                <a:solidFill>
                  <a:srgbClr val="222222"/>
                </a:solidFill>
                <a:latin typeface="Calibri"/>
              </a:rPr>
              <a:t/>
            </a:r>
          </a:p>
          <a:p>
            <a:r>
              <a:rPr sz="1500" b="0">
                <a:solidFill>
                  <a:srgbClr val="222222"/>
                </a:solidFill>
                <a:latin typeface="Calibri"/>
              </a:rPr>
              <a:t>Os dejo la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Fletes Asia-Europa -4,6 % (2.313 $/TEU) tras la Golden Week y con la vuelta parcial a Suez, mientras Hapag-Lloyd y CMA CGM anuncian subidas hacia Latinoamérica. Un dato + por qué le afecta al transitario al cotizar. Fuentes: DataPortuaria (oct. 2026), Cadena de Suministro, ACE (05/10)</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A-05, R-03 · E-R1 cifra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14/10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¿Margen de adaptación o sanción desde el primer día?</a:t>
            </a:r>
          </a:p>
          <a:p>
            <a:r>
              <a:rPr sz="1500" b="0">
                <a:solidFill>
                  <a:srgbClr val="222222"/>
                </a:solidFill>
                <a:latin typeface="Calibri"/>
              </a:rPr>
              <a:t/>
            </a:r>
          </a:p>
          <a:p>
            <a:r>
              <a:rPr sz="1500" b="0">
                <a:solidFill>
                  <a:srgbClr val="222222"/>
                </a:solidFill>
                <a:latin typeface="Calibri"/>
              </a:rPr>
              <a:t>El DeCA es digital y obligatorio desde el 5 de octubre en el transporte de mercancías por carretera dentro de España. Y la primera semana ya ha dejado una petición clara.</a:t>
            </a:r>
          </a:p>
          <a:p>
            <a:r>
              <a:rPr sz="1500" b="0">
                <a:solidFill>
                  <a:srgbClr val="222222"/>
                </a:solidFill>
                <a:latin typeface="Calibri"/>
              </a:rPr>
              <a:t/>
            </a:r>
          </a:p>
          <a:p>
            <a:r>
              <a:rPr sz="1500" b="0">
                <a:solidFill>
                  <a:srgbClr val="222222"/>
                </a:solidFill>
                <a:latin typeface="Calibri"/>
              </a:rPr>
              <a:t>@Fenadismer pide que, durante las primeras semanas, los agentes de control hagan una labor didáctica y de asesoramiento, sin sanciones. Y según El Mercantil, el @Ministerio de Transportes defiende una aplicación gradual dentro de las inspecciones habituales.</a:t>
            </a:r>
          </a:p>
          <a:p>
            <a:r>
              <a:rPr sz="1500" b="0">
                <a:solidFill>
                  <a:srgbClr val="222222"/>
                </a:solidFill>
                <a:latin typeface="Calibri"/>
              </a:rPr>
              <a:t/>
            </a:r>
          </a:p>
          <a:p>
            <a:r>
              <a:rPr sz="1500" b="0">
                <a:solidFill>
                  <a:srgbClr val="222222"/>
                </a:solidFill>
                <a:latin typeface="Calibri"/>
              </a:rPr>
              <a:t>Ojo con leerlo como un "ya veremos". Una aplicación gradual no cambia quién responde: la responsabilidad puede recaer tanto en el cargador contractual como en el transportista.</a:t>
            </a:r>
          </a:p>
          <a:p>
            <a:r>
              <a:rPr sz="1500" b="0">
                <a:solidFill>
                  <a:srgbClr val="222222"/>
                </a:solidFill>
                <a:latin typeface="Calibri"/>
              </a:rPr>
              <a:t/>
            </a:r>
          </a:p>
          <a:p>
            <a:r>
              <a:rPr sz="1500" b="0">
                <a:solidFill>
                  <a:srgbClr val="222222"/>
                </a:solidFill>
                <a:latin typeface="Calibri"/>
              </a:rPr>
              <a:t>Por eso no se trata solo de esperar margen; se trata de tener el documento en orden desde ya.</a:t>
            </a:r>
          </a:p>
          <a:p>
            <a:r>
              <a:rPr sz="1500" b="0">
                <a:solidFill>
                  <a:srgbClr val="222222"/>
                </a:solidFill>
                <a:latin typeface="Calibri"/>
              </a:rPr>
              <a:t/>
            </a:r>
          </a:p>
          <a:p>
            <a:r>
              <a:rPr sz="1500" b="0">
                <a:solidFill>
                  <a:srgbClr val="222222"/>
                </a:solidFill>
                <a:latin typeface="Calibri"/>
              </a:rPr>
              <a:t>¿Tu operativa ya está lista, o estás esperando a ver qué pasa?</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¿Margen o sanción?: el sector (Fenadismer) pide unas primeras semanas didácticas, sin sanciones; Transportes habla de aplicación gradual. Su lectura, de igual a igual, sin cifras de multas. Reescribe el post suelto "multas del DCA" quitando los importes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R-06 · E-C1 brazo A · E-R1 pregunta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14/10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transitario que solo tramita tiene fecha de caducidad.</a:t>
            </a:r>
          </a:p>
          <a:p>
            <a:r>
              <a:rPr sz="1500" b="0">
                <a:solidFill>
                  <a:srgbClr val="222222"/>
                </a:solidFill>
                <a:latin typeface="Calibri"/>
              </a:rPr>
              <a:t/>
            </a:r>
          </a:p>
          <a:p>
            <a:r>
              <a:rPr sz="1500" b="0">
                <a:solidFill>
                  <a:srgbClr val="222222"/>
                </a:solidFill>
                <a:latin typeface="Calibri"/>
              </a:rPr>
              <a:t>Entre las conclusiones del XIV Congreso FETEIA-OLTRA, en Tenerife, hay una que conviene leer dos veces: la reforma aduanera abre al transitario una vía de diferenciación basada en datos y asesoramiento. Se citaron como claves el Data Hub, el comercio electrónico, la coordinación administrativa y el asesoramiento.</a:t>
            </a:r>
          </a:p>
          <a:p>
            <a:r>
              <a:rPr sz="1500" b="0">
                <a:solidFill>
                  <a:srgbClr val="222222"/>
                </a:solidFill>
                <a:latin typeface="Calibri"/>
              </a:rPr>
              <a:t/>
            </a:r>
          </a:p>
          <a:p>
            <a:r>
              <a:rPr sz="1500" b="0">
                <a:solidFill>
                  <a:srgbClr val="222222"/>
                </a:solidFill>
                <a:latin typeface="Calibri"/>
              </a:rPr>
              <a:t>No es una amenaza. Es una oportunidad.</a:t>
            </a:r>
          </a:p>
          <a:p>
            <a:r>
              <a:rPr sz="1500" b="0">
                <a:solidFill>
                  <a:srgbClr val="222222"/>
                </a:solidFill>
                <a:latin typeface="Calibri"/>
              </a:rPr>
              <a:t/>
            </a:r>
          </a:p>
          <a:p>
            <a:r>
              <a:rPr sz="1500" b="0">
                <a:solidFill>
                  <a:srgbClr val="222222"/>
                </a:solidFill>
                <a:latin typeface="Calibri"/>
              </a:rPr>
              <a:t>Pero aquí está lo incómodo: tramitar lo hace cada vez más gente, y cada vez más sistemas. Lo que no hace un sistema solo es entender la operativa de tu cliente y decirle qué le conviene antes de que lo pregunte.</a:t>
            </a:r>
          </a:p>
          <a:p>
            <a:r>
              <a:rPr sz="1500" b="0">
                <a:solidFill>
                  <a:srgbClr val="222222"/>
                </a:solidFill>
                <a:latin typeface="Calibri"/>
              </a:rPr>
              <a:t/>
            </a:r>
          </a:p>
          <a:p>
            <a:r>
              <a:rPr sz="1500" b="0">
                <a:solidFill>
                  <a:srgbClr val="222222"/>
                </a:solidFill>
                <a:latin typeface="Calibri"/>
              </a:rPr>
              <a:t>Al final, el valor se va moviendo del papel al criterio. Y el criterio necesita datos a mano, no enterrados en tres herramientas.</a:t>
            </a:r>
          </a:p>
          <a:p>
            <a:r>
              <a:rPr sz="1500" b="0">
                <a:solidFill>
                  <a:srgbClr val="222222"/>
                </a:solidFill>
                <a:latin typeface="Calibri"/>
              </a:rPr>
              <a:t/>
            </a:r>
          </a:p>
          <a:p>
            <a:r>
              <a:rPr sz="1500" b="0">
                <a:solidFill>
                  <a:srgbClr val="222222"/>
                </a:solidFill>
                <a:latin typeface="Calibri"/>
              </a:rPr>
              <a:t>La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transitario que solo tramita tiene fecha de caducidad": conclusión del congreso FETEIA (02/10): la reforma aduanera abre al transitario una vía basada en datos y asesoramiento. Reflexión directa. Fuente: Diario El Canal</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E-C1 brazo 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14/10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Pains · Pain #12</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infografía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flete baja. Tu oferta, no.</a:t>
            </a:r>
          </a:p>
          <a:p>
            <a:r>
              <a:rPr sz="1500" b="0">
                <a:solidFill>
                  <a:srgbClr val="222222"/>
                </a:solidFill>
                <a:latin typeface="Calibri"/>
              </a:rPr>
              <a:t/>
            </a:r>
          </a:p>
          <a:p>
            <a:r>
              <a:rPr sz="1500" b="0">
                <a:solidFill>
                  <a:srgbClr val="222222"/>
                </a:solidFill>
                <a:latin typeface="Calibri"/>
              </a:rPr>
              <a:t>Pasa cada vez que el mercado se mueve: el coste ya es otro, pero la cotización sigue con el de hace unos días. Y con una subida, como la anunciada hacia Latinoamérica, ocurre lo contrario: sale sin repercutir. 💸</a:t>
            </a:r>
          </a:p>
          <a:p>
            <a:r>
              <a:rPr sz="1500" b="0">
                <a:solidFill>
                  <a:srgbClr val="222222"/>
                </a:solidFill>
                <a:latin typeface="Calibri"/>
              </a:rPr>
              <a:t/>
            </a:r>
          </a:p>
          <a:p>
            <a:r>
              <a:rPr sz="1500" b="0">
                <a:solidFill>
                  <a:srgbClr val="222222"/>
                </a:solidFill>
                <a:latin typeface="Calibri"/>
              </a:rPr>
              <a:t>El problema no es el mercado. El problema es actualizar tarifas a mano, una a una, en un Excel que nadie sabe si está al día.</a:t>
            </a:r>
          </a:p>
          <a:p>
            <a:r>
              <a:rPr sz="1500" b="0">
                <a:solidFill>
                  <a:srgbClr val="222222"/>
                </a:solidFill>
                <a:latin typeface="Calibri"/>
              </a:rPr>
              <a:t/>
            </a:r>
          </a:p>
          <a:p>
            <a:r>
              <a:rPr sz="1500" b="0">
                <a:solidFill>
                  <a:srgbClr val="222222"/>
                </a:solidFill>
                <a:latin typeface="Calibri"/>
              </a:rPr>
              <a:t>Cuando el coste cambia, la oferta no puede esperar a que alguien tenga un hueco para tocarla. Sin contar el margen que se pierde por el camino.</a:t>
            </a:r>
          </a:p>
          <a:p>
            <a:r>
              <a:rPr sz="1500" b="0">
                <a:solidFill>
                  <a:srgbClr val="222222"/>
                </a:solidFill>
                <a:latin typeface="Calibri"/>
              </a:rPr>
              <a:t/>
            </a:r>
          </a:p>
          <a:p>
            <a:r>
              <a:rPr sz="1500" b="0">
                <a:solidFill>
                  <a:srgbClr val="222222"/>
                </a:solidFill>
                <a:latin typeface="Calibri"/>
              </a:rPr>
              <a:t>Por eso en Visual Trans trabajamos para que la cotización parta de costes actualizados, no de una hoja que hay que repasar.</a:t>
            </a:r>
          </a:p>
          <a:p>
            <a:r>
              <a:rPr sz="1500" b="0">
                <a:solidFill>
                  <a:srgbClr val="222222"/>
                </a:solidFill>
                <a:latin typeface="Calibri"/>
              </a:rPr>
              <a:t/>
            </a:r>
          </a:p>
          <a:p>
            <a:r>
              <a:rPr sz="1500" b="0">
                <a:solidFill>
                  <a:srgbClr val="222222"/>
                </a:solidFill>
                <a:latin typeface="Calibri"/>
              </a:rPr>
              <a:t>¿Cada cuánto actualizáis las tarifas de vuestras ofertas?</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flete baja, tu oferta no: si las tarifas se actualizan a mano, la bajada de esta semana llega tarde a las cotizaciones (o la subida a Latinoamérica, sin repercutir)</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Continúa el dato del martes con el pain; A-05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Miércoles 14/10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Pains · Pain #9</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única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Mismo idioma.</a:t>
            </a:r>
          </a:p>
          <a:p>
            <a:r>
              <a:rPr sz="1500" b="0">
                <a:solidFill>
                  <a:srgbClr val="222222"/>
                </a:solidFill>
                <a:latin typeface="Calibri"/>
              </a:rPr>
              <a:t/>
            </a:r>
          </a:p>
          <a:p>
            <a:r>
              <a:rPr sz="1500" b="0">
                <a:solidFill>
                  <a:srgbClr val="222222"/>
                </a:solidFill>
                <a:latin typeface="Calibri"/>
              </a:rPr>
              <a:t>Cuando surge una incidencia en plena operativa, lo último que necesitas es traducir tu día a día a quien te atiende.</a:t>
            </a:r>
          </a:p>
          <a:p>
            <a:r>
              <a:rPr sz="1500" b="0">
                <a:solidFill>
                  <a:srgbClr val="222222"/>
                </a:solidFill>
                <a:latin typeface="Calibri"/>
              </a:rPr>
              <a:t/>
            </a:r>
          </a:p>
          <a:p>
            <a:r>
              <a:rPr sz="1500" b="0">
                <a:solidFill>
                  <a:srgbClr val="222222"/>
                </a:solidFill>
                <a:latin typeface="Calibri"/>
              </a:rPr>
              <a:t>Esa es la diferencia que más se nota. Si quien contesta ya conoce el sector, la conversación va directa al problema. La incidencia se resuelve, no se traduce.</a:t>
            </a:r>
          </a:p>
          <a:p>
            <a:r>
              <a:rPr sz="1500" b="0">
                <a:solidFill>
                  <a:srgbClr val="222222"/>
                </a:solidFill>
                <a:latin typeface="Calibri"/>
              </a:rPr>
              <a:t/>
            </a:r>
          </a:p>
          <a:p>
            <a:r>
              <a:rPr sz="1500" b="0">
                <a:solidFill>
                  <a:srgbClr val="222222"/>
                </a:solidFill>
                <a:latin typeface="Calibri"/>
              </a:rPr>
              <a:t>Por eso el centro de soporte está integrado en el propio sistema, dentro de vForwarding. Y detrás hay un equipo que forma parte de Visual Trans, no un servicio lejano al que hay que explicárselo todo.</a:t>
            </a:r>
          </a:p>
          <a:p>
            <a:r>
              <a:rPr sz="1500" b="0">
                <a:solidFill>
                  <a:srgbClr val="222222"/>
                </a:solidFill>
                <a:latin typeface="Calibri"/>
              </a:rPr>
              <a:t/>
            </a:r>
          </a:p>
          <a:p>
            <a:r>
              <a:rPr sz="1500" b="0">
                <a:solidFill>
                  <a:srgbClr val="222222"/>
                </a:solidFill>
                <a:latin typeface="Calibri"/>
              </a:rPr>
              <a:t>Desde 1999 trabajamos para transitarios. Se nos reconoce por la excelencia de nuestro servicio postventa, y el nivel de satisfacción de nuestros clientes con el soporte supera el 90 %.</a:t>
            </a:r>
          </a:p>
          <a:p>
            <a:r>
              <a:rPr sz="1500" b="0">
                <a:solidFill>
                  <a:srgbClr val="222222"/>
                </a:solidFill>
                <a:latin typeface="Calibri"/>
              </a:rPr>
              <a:t/>
            </a:r>
          </a:p>
          <a:p>
            <a:r>
              <a:rPr sz="1500" b="0">
                <a:solidFill>
                  <a:srgbClr val="222222"/>
                </a:solidFill>
                <a:latin typeface="Calibri"/>
              </a:rPr>
              <a:t>No es solo atender una consulta; es entender de qué se está hablando.</a:t>
            </a:r>
          </a:p>
          <a:p>
            <a:r>
              <a:rPr sz="1500" b="0">
                <a:solidFill>
                  <a:srgbClr val="222222"/>
                </a:solidFill>
                <a:latin typeface="Calibri"/>
              </a:rPr>
              <a:t/>
            </a:r>
          </a:p>
          <a:p>
            <a:r>
              <a:rPr sz="1500" b="0">
                <a:solidFill>
                  <a:srgbClr val="222222"/>
                </a:solidFill>
                <a:latin typeface="Calibri"/>
              </a:rPr>
              <a:t>Soporte que habla tu idioma. Así de simple.</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Soporte especializado: cuando quien contesta ya habla tu idioma, la incidencia se resuelve, no se traduce. Post suelto ya redactado, con imagen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A-07 · E-C2 brazo B (imagen)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15/10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Pains · Pain #5</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El DeCA ya viaja en el móvil del conductor.</a:t>
            </a:r>
          </a:p>
          <a:p>
            <a:r>
              <a:rPr sz="1500" b="0">
                <a:solidFill>
                  <a:srgbClr val="222222"/>
                </a:solidFill>
                <a:latin typeface="Calibri"/>
              </a:rPr>
              <a:t/>
            </a:r>
          </a:p>
          <a:p>
            <a:r>
              <a:rPr sz="1500" b="0">
                <a:solidFill>
                  <a:srgbClr val="222222"/>
                </a:solidFill>
                <a:latin typeface="Calibri"/>
              </a:rPr>
              <a:t>El resto del expediente, no. Sigue en el correo, en carpetas compartidas, en el escritorio de alguien que hoy no está.</a:t>
            </a:r>
          </a:p>
          <a:p>
            <a:r>
              <a:rPr sz="1500" b="0">
                <a:solidFill>
                  <a:srgbClr val="222222"/>
                </a:solidFill>
                <a:latin typeface="Calibri"/>
              </a:rPr>
              <a:t/>
            </a:r>
          </a:p>
          <a:p>
            <a:r>
              <a:rPr sz="1500" b="0">
                <a:solidFill>
                  <a:srgbClr val="222222"/>
                </a:solidFill>
                <a:latin typeface="Calibri"/>
              </a:rPr>
              <a:t>La realidad es que digitalizar un documento no ordena todos los demás. Cada uno vive en su sitio.</a:t>
            </a:r>
          </a:p>
          <a:p>
            <a:r>
              <a:rPr sz="1500" b="0">
                <a:solidFill>
                  <a:srgbClr val="222222"/>
                </a:solidFill>
                <a:latin typeface="Calibri"/>
              </a:rPr>
              <a:t/>
            </a:r>
          </a:p>
          <a:p>
            <a:r>
              <a:rPr sz="1500" b="0">
                <a:solidFill>
                  <a:srgbClr val="222222"/>
                </a:solidFill>
                <a:latin typeface="Calibri"/>
              </a:rPr>
              <a:t>Y lo peor de todo es el momento en que alguien lo pide: un cliente, un corresponsal, un proveedor. Empieza la búsqueda.</a:t>
            </a:r>
          </a:p>
          <a:p>
            <a:r>
              <a:rPr sz="1500" b="0">
                <a:solidFill>
                  <a:srgbClr val="222222"/>
                </a:solidFill>
                <a:latin typeface="Calibri"/>
              </a:rPr>
              <a:t/>
            </a:r>
          </a:p>
          <a:p>
            <a:r>
              <a:rPr sz="1500" b="0">
                <a:solidFill>
                  <a:srgbClr val="222222"/>
                </a:solidFill>
                <a:latin typeface="Calibri"/>
              </a:rPr>
              <a:t>Mientras se busca, el cobro espera.</a:t>
            </a:r>
          </a:p>
          <a:p>
            <a:r>
              <a:rPr sz="1500" b="0">
                <a:solidFill>
                  <a:srgbClr val="222222"/>
                </a:solidFill>
                <a:latin typeface="Calibri"/>
              </a:rPr>
              <a:t/>
            </a:r>
          </a:p>
          <a:p>
            <a:r>
              <a:rPr sz="1500" b="0">
                <a:solidFill>
                  <a:srgbClr val="222222"/>
                </a:solidFill>
                <a:latin typeface="Calibri"/>
              </a:rPr>
              <a:t>Eso no es solo tiempo perdido. Es dinero parado 📉</a:t>
            </a:r>
          </a:p>
          <a:p>
            <a:r>
              <a:rPr sz="1500" b="0">
                <a:solidFill>
                  <a:srgbClr val="222222"/>
                </a:solidFill>
                <a:latin typeface="Calibri"/>
              </a:rPr>
              <a:t/>
            </a:r>
          </a:p>
          <a:p>
            <a:r>
              <a:rPr sz="1500" b="0">
                <a:solidFill>
                  <a:srgbClr val="222222"/>
                </a:solidFill>
                <a:latin typeface="Calibri"/>
              </a:rPr>
              <a:t>¿Dónde vive hoy el expediente completo en tu empresa?</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El DeCA está en el móvil del conductor; el resto del expediente, en el correo: documentación dispersa, cobros que esperan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Pain no usado este 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15/10 · 09:30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300" b="0">
                <a:solidFill>
                  <a:srgbClr val="222222"/>
                </a:solidFill>
                <a:latin typeface="Calibri"/>
              </a:rPr>
              <a:t>Primera semana de DeCA digital obligatorio y ya han aparecido las dudas de siempre.</a:t>
            </a:r>
          </a:p>
          <a:p>
            <a:r>
              <a:rPr sz="1300" b="0">
                <a:solidFill>
                  <a:srgbClr val="222222"/>
                </a:solidFill>
                <a:latin typeface="Calibri"/>
              </a:rPr>
              <a:t/>
            </a:r>
          </a:p>
          <a:p>
            <a:r>
              <a:rPr sz="1300" b="0">
                <a:solidFill>
                  <a:srgbClr val="222222"/>
                </a:solidFill>
                <a:latin typeface="Calibri"/>
              </a:rPr>
              <a:t>Vamos a aterrizar las tres que más se repiten.</a:t>
            </a:r>
          </a:p>
          <a:p>
            <a:r>
              <a:rPr sz="1300" b="0">
                <a:solidFill>
                  <a:srgbClr val="222222"/>
                </a:solidFill>
                <a:latin typeface="Calibri"/>
              </a:rPr>
              <a:t/>
            </a:r>
          </a:p>
          <a:p>
            <a:r>
              <a:rPr sz="1300" b="0">
                <a:solidFill>
                  <a:srgbClr val="222222"/>
                </a:solidFill>
                <a:latin typeface="Calibri"/>
              </a:rPr>
              <a:t>¿Y si el agente no lee el QR?</a:t>
            </a:r>
          </a:p>
          <a:p>
            <a:r>
              <a:rPr sz="1300" b="0">
                <a:solidFill>
                  <a:srgbClr val="222222"/>
                </a:solidFill>
                <a:latin typeface="Calibri"/>
              </a:rPr>
              <a:t>Algunos proveedores de emisión han comunicado incidencias puntuales al escanearlo en controles. Según @Fenadismer, el problema estaría en los dispositivos de los agentes, no en los documentos. Es su versión. Además, existe un código numérico alternativo al QR.</a:t>
            </a:r>
          </a:p>
          <a:p>
            <a:r>
              <a:rPr sz="1300" b="0">
                <a:solidFill>
                  <a:srgbClr val="222222"/>
                </a:solidFill>
                <a:latin typeface="Calibri"/>
              </a:rPr>
              <a:t/>
            </a:r>
          </a:p>
          <a:p>
            <a:r>
              <a:rPr sz="1300" b="0">
                <a:solidFill>
                  <a:srgbClr val="222222"/>
                </a:solidFill>
                <a:latin typeface="Calibri"/>
              </a:rPr>
              <a:t>¿Tengo que usar la app de cada cargador?</a:t>
            </a:r>
          </a:p>
          <a:p>
            <a:r>
              <a:rPr sz="1300" b="0">
                <a:solidFill>
                  <a:srgbClr val="222222"/>
                </a:solidFill>
                <a:latin typeface="Calibri"/>
              </a:rPr>
              <a:t>@Fenadismer denuncia que algunos cargadores imponen sus propias plataformas. El resultado: conductores con varias aplicaciones y varios usuarios.</a:t>
            </a:r>
          </a:p>
          <a:p>
            <a:r>
              <a:rPr sz="1300" b="0">
                <a:solidFill>
                  <a:srgbClr val="222222"/>
                </a:solidFill>
                <a:latin typeface="Calibri"/>
              </a:rPr>
              <a:t/>
            </a:r>
          </a:p>
          <a:p>
            <a:r>
              <a:rPr sz="1300" b="0">
                <a:solidFill>
                  <a:srgbClr val="222222"/>
                </a:solidFill>
                <a:latin typeface="Calibri"/>
              </a:rPr>
              <a:t>¿Vale el papel con un QR?</a:t>
            </a:r>
          </a:p>
          <a:p>
            <a:r>
              <a:rPr sz="1300" b="0">
                <a:solidFill>
                  <a:srgbClr val="222222"/>
                </a:solidFill>
                <a:latin typeface="Calibri"/>
              </a:rPr>
              <a:t>Algunas empresas mantienen un formato físico con un QR que enlaza a la versión digital. Lo exigido es el documento digital; conviene confirmarlo antes de dar nada por bueno.</a:t>
            </a:r>
          </a:p>
          <a:p>
            <a:r>
              <a:rPr sz="1300" b="0">
                <a:solidFill>
                  <a:srgbClr val="222222"/>
                </a:solidFill>
                <a:latin typeface="Calibri"/>
              </a:rPr>
              <a:t/>
            </a:r>
          </a:p>
          <a:p>
            <a:r>
              <a:rPr sz="1300" b="0">
                <a:solidFill>
                  <a:srgbClr val="222222"/>
                </a:solidFill>
                <a:latin typeface="Calibri"/>
              </a:rPr>
              <a:t>La obligación ya está en marcha. Las dudas, también.</a:t>
            </a:r>
          </a:p>
          <a:p>
            <a:r>
              <a:rPr sz="1300" b="0">
                <a:solidFill>
                  <a:srgbClr val="222222"/>
                </a:solidFill>
                <a:latin typeface="Calibri"/>
              </a:rPr>
              <a:t/>
            </a:r>
          </a:p>
          <a:p>
            <a:r>
              <a:rPr sz="1300" b="0">
                <a:solidFill>
                  <a:srgbClr val="222222"/>
                </a:solidFill>
                <a:latin typeface="Calibri"/>
              </a:rPr>
              <a:t>👇 Tienes la fuente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Las 3 dudas de la primera semana del DeCA, en pregunta-respuesta: ¿y si el agente no lee el QR? ¿Tengo que usar la app del cargador? ¿Vale el papel con QR? Mismo formato que su post del 05/10 (899 impresiones)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formato que funcionó en octubre · E-R1 pregunta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15/10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Cecilio Labrada · Casos de éxito</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 + texto corto</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CASO DE ÉXITO — pendiente Adrián</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2E8B57"/>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CASO DE ÉXITO — pendiente Adrián</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2E8B57"/>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Su caso de éxito rinde 1,66 (R-C1)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Jueves 15/10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carrusel</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3 € desde julio. Unos 2 € más desde noviembre.</a:t>
            </a:r>
          </a:p>
          <a:p>
            <a:r>
              <a:rPr sz="1500" b="0">
                <a:solidFill>
                  <a:srgbClr val="222222"/>
                </a:solidFill>
                <a:latin typeface="Calibri"/>
              </a:rPr>
              <a:t/>
            </a:r>
          </a:p>
          <a:p>
            <a:r>
              <a:rPr sz="1500" b="0">
                <a:solidFill>
                  <a:srgbClr val="222222"/>
                </a:solidFill>
                <a:latin typeface="Calibri"/>
              </a:rPr>
              <a:t>Así se va componiendo el coste de despachar un envío de e-commerce de bajo valor. Y conviene tenerlo claro antes del 1 de noviembre.</a:t>
            </a:r>
          </a:p>
          <a:p>
            <a:r>
              <a:rPr sz="1500" b="0">
                <a:solidFill>
                  <a:srgbClr val="222222"/>
                </a:solidFill>
                <a:latin typeface="Calibri"/>
              </a:rPr>
              <a:t/>
            </a:r>
          </a:p>
          <a:p>
            <a:r>
              <a:rPr sz="1500" b="0">
                <a:solidFill>
                  <a:srgbClr val="222222"/>
                </a:solidFill>
                <a:latin typeface="Calibri"/>
              </a:rPr>
              <a:t>1️⃣ Desde el 1 de julio de 2026 hay un derecho de aduana fijo transitorio de 3 € para envíos de bajo valor, hasta el 1 de julio de 2028.</a:t>
            </a:r>
          </a:p>
          <a:p>
            <a:r>
              <a:rPr sz="1500" b="0">
                <a:solidFill>
                  <a:srgbClr val="222222"/>
                </a:solidFill>
                <a:latin typeface="Calibri"/>
              </a:rPr>
              <a:t/>
            </a:r>
          </a:p>
          <a:p>
            <a:r>
              <a:rPr sz="1500" b="0">
                <a:solidFill>
                  <a:srgbClr val="222222"/>
                </a:solidFill>
                <a:latin typeface="Calibri"/>
              </a:rPr>
              <a:t>2️⃣ El Reglamento (UE) 2026/382 eliminó la franquicia de 150 €.</a:t>
            </a:r>
          </a:p>
          <a:p>
            <a:r>
              <a:rPr sz="1500" b="0">
                <a:solidFill>
                  <a:srgbClr val="222222"/>
                </a:solidFill>
                <a:latin typeface="Calibri"/>
              </a:rPr>
              <a:t/>
            </a:r>
          </a:p>
          <a:p>
            <a:r>
              <a:rPr sz="1500" b="0">
                <a:solidFill>
                  <a:srgbClr val="222222"/>
                </a:solidFill>
                <a:latin typeface="Calibri"/>
              </a:rPr>
              <a:t>3️⃣ La tasa de tramitación (handling fee) debe aplicarse como muy tarde el 1 de noviembre. Se habla de unos 2 €, pendiente de confirmación: el importe definitivo lo fija la Comisión.</a:t>
            </a:r>
          </a:p>
          <a:p>
            <a:r>
              <a:rPr sz="1500" b="0">
                <a:solidFill>
                  <a:srgbClr val="222222"/>
                </a:solidFill>
                <a:latin typeface="Calibri"/>
              </a:rPr>
              <a:t/>
            </a:r>
          </a:p>
          <a:p>
            <a:r>
              <a:rPr sz="1500" b="0">
                <a:solidFill>
                  <a:srgbClr val="222222"/>
                </a:solidFill>
                <a:latin typeface="Calibri"/>
              </a:rPr>
              <a:t>La @Agencia Tributaria explicó los cambios de noviembre, tasa de tramitación e identificadores de producto, en un seminario web el 1 de octubre.</a:t>
            </a:r>
          </a:p>
          <a:p>
            <a:r>
              <a:rPr sz="1500" b="0">
                <a:solidFill>
                  <a:srgbClr val="222222"/>
                </a:solidFill>
                <a:latin typeface="Calibri"/>
              </a:rPr>
              <a:t/>
            </a:r>
          </a:p>
          <a:p>
            <a:r>
              <a:rPr sz="1500" b="0">
                <a:solidFill>
                  <a:srgbClr val="222222"/>
                </a:solidFill>
                <a:latin typeface="Calibri"/>
              </a:rPr>
              <a:t>No es solo una cifra nueva; es un calendario que ya corre.</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2 € + 3 € por envío desde noviembre: la tasa de tramitación del e-commerce (a aplicar como muy tarde el 1/11; importe definitivo pendiente de la Comisión) se suma al derecho fijo de 3 € de julio. Qué cambia para quien despacha comercio electrónico. Webinar AEAT del 01/10. Fuentes: AEAT, trans.info, El Español (04/10)</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E-C1 brazo B · E-R1 cifra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16/10 · 09:00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Visual Trans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infografía comparativa</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¿DeCA y eCMR son lo mismo? No. Y la confusión ya circula por el mercado.</a:t>
            </a:r>
          </a:p>
          <a:p>
            <a:r>
              <a:rPr sz="1500" b="0">
                <a:solidFill>
                  <a:srgbClr val="222222"/>
                </a:solidFill>
                <a:latin typeface="Calibri"/>
              </a:rPr>
              <a:t/>
            </a:r>
          </a:p>
          <a:p>
            <a:r>
              <a:rPr sz="1500" b="0">
                <a:solidFill>
                  <a:srgbClr val="222222"/>
                </a:solidFill>
                <a:latin typeface="Calibri"/>
              </a:rPr>
              <a:t>Desde el 5 de octubre, el DeCA digital es obligatorio en el transporte público de mercancías por carretera dentro de España, tanto nacional como cabotaje.</a:t>
            </a:r>
          </a:p>
          <a:p>
            <a:r>
              <a:rPr sz="1500" b="0">
                <a:solidFill>
                  <a:srgbClr val="222222"/>
                </a:solidFill>
                <a:latin typeface="Calibri"/>
              </a:rPr>
              <a:t/>
            </a:r>
          </a:p>
          <a:p>
            <a:r>
              <a:rPr sz="1500" b="0">
                <a:solidFill>
                  <a:srgbClr val="222222"/>
                </a:solidFill>
                <a:latin typeface="Calibri"/>
              </a:rPr>
              <a:t>El eCMR, en cambio, sigue siendo opcional en el transporte internacional, que continúa con sus documentos de convenio.</a:t>
            </a:r>
          </a:p>
          <a:p>
            <a:r>
              <a:rPr sz="1500" b="0">
                <a:solidFill>
                  <a:srgbClr val="222222"/>
                </a:solidFill>
                <a:latin typeface="Calibri"/>
              </a:rPr>
              <a:t/>
            </a:r>
          </a:p>
          <a:p>
            <a:r>
              <a:rPr sz="1500" b="0">
                <a:solidFill>
                  <a:srgbClr val="222222"/>
                </a:solidFill>
                <a:latin typeface="Calibri"/>
              </a:rPr>
              <a:t>✅ DeCA: obligatorio. Transporte nacional y cabotaje.</a:t>
            </a:r>
          </a:p>
          <a:p>
            <a:r>
              <a:rPr sz="1500" b="0">
                <a:solidFill>
                  <a:srgbClr val="222222"/>
                </a:solidFill>
                <a:latin typeface="Calibri"/>
              </a:rPr>
              <a:t>✅ eCMR: opcional. Internacional, al amparo del Protocolo adicional al CMR, en vigor para España.</a:t>
            </a:r>
          </a:p>
          <a:p>
            <a:r>
              <a:rPr sz="1500" b="0">
                <a:solidFill>
                  <a:srgbClr val="222222"/>
                </a:solidFill>
                <a:latin typeface="Calibri"/>
              </a:rPr>
              <a:t/>
            </a:r>
          </a:p>
          <a:p>
            <a:r>
              <a:rPr sz="1500" b="0">
                <a:solidFill>
                  <a:srgbClr val="222222"/>
                </a:solidFill>
                <a:latin typeface="Calibri"/>
              </a:rPr>
              <a:t>Hay proveedores que presentan el eCMR como "obligatorio". No lo es, y conviene saberlo antes de decidir nada.</a:t>
            </a:r>
          </a:p>
          <a:p>
            <a:r>
              <a:rPr sz="1500" b="0">
                <a:solidFill>
                  <a:srgbClr val="222222"/>
                </a:solidFill>
                <a:latin typeface="Calibri"/>
              </a:rPr>
              <a:t/>
            </a:r>
          </a:p>
          <a:p>
            <a:r>
              <a:rPr sz="1500" b="0">
                <a:solidFill>
                  <a:srgbClr val="222222"/>
                </a:solidFill>
                <a:latin typeface="Calibri"/>
              </a:rPr>
              <a:t>Y el reto de fondo, según el estudio del @CEL y @Fieldeas, es otro: la interoperabilidad entre plataformas.</a:t>
            </a:r>
          </a:p>
          <a:p>
            <a:r>
              <a:rPr sz="1500" b="0">
                <a:solidFill>
                  <a:srgbClr val="222222"/>
                </a:solidFill>
                <a:latin typeface="Calibri"/>
              </a:rPr>
              <a:t/>
            </a:r>
          </a:p>
          <a:p>
            <a:r>
              <a:rPr sz="1500" b="0">
                <a:solidFill>
                  <a:srgbClr val="222222"/>
                </a:solidFill>
                <a:latin typeface="Calibri"/>
              </a:rPr>
              <a:t>No es solo cumplir con un documento; es que los datos viajen entre sistemas.</a:t>
            </a:r>
          </a:p>
          <a:p>
            <a:r>
              <a:rPr sz="1500" b="0">
                <a:solidFill>
                  <a:srgbClr val="222222"/>
                </a:solidFill>
                <a:latin typeface="Calibri"/>
              </a:rPr>
              <a:t/>
            </a:r>
          </a:p>
          <a:p>
            <a:r>
              <a:rPr sz="1500" b="0">
                <a:solidFill>
                  <a:srgbClr val="222222"/>
                </a:solidFill>
                <a:latin typeface="Calibri"/>
              </a:rPr>
              <a:t>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1F6FB2"/>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DeCA obligatorio, eCMR opcional: aclaración frente a quien vende "eCMR obligatorio"; la interoperabilidad, principal reto del DeCA según el estudio de CEL y Fieldeas. Fuentes: APR (05/10), Cadena de Suministro (semana 5-9/10)</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1F6FB2"/>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D9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16/10 · 10:00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Enrique Saa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3 € de derecho fijo desde julio y, el 1 de noviembre, una tasa más.</a:t>
            </a:r>
          </a:p>
          <a:p>
            <a:r>
              <a:rPr sz="1500" b="0">
                <a:solidFill>
                  <a:srgbClr val="222222"/>
                </a:solidFill>
                <a:latin typeface="Calibri"/>
              </a:rPr>
              <a:t/>
            </a:r>
          </a:p>
          <a:p>
            <a:r>
              <a:rPr sz="1500" b="0">
                <a:solidFill>
                  <a:srgbClr val="222222"/>
                </a:solidFill>
                <a:latin typeface="Calibri"/>
              </a:rPr>
              <a:t>Si mueves paquetería de bajo valor, esto te afecta a ti y a tus clientes.</a:t>
            </a:r>
          </a:p>
          <a:p>
            <a:r>
              <a:rPr sz="1500" b="0">
                <a:solidFill>
                  <a:srgbClr val="222222"/>
                </a:solidFill>
                <a:latin typeface="Calibri"/>
              </a:rPr>
              <a:t/>
            </a:r>
          </a:p>
          <a:p>
            <a:r>
              <a:rPr sz="1500" b="0">
                <a:solidFill>
                  <a:srgbClr val="222222"/>
                </a:solidFill>
                <a:latin typeface="Calibri"/>
              </a:rPr>
              <a:t>Desde el 1 de julio de 2026 rige un derecho de aduana fijo transitorio de 3 € para envíos de bajo valor. Estará vigente hasta el 1 de julio de 2028.</a:t>
            </a:r>
          </a:p>
          <a:p>
            <a:r>
              <a:rPr sz="1500" b="0">
                <a:solidFill>
                  <a:srgbClr val="222222"/>
                </a:solidFill>
                <a:latin typeface="Calibri"/>
              </a:rPr>
              <a:t/>
            </a:r>
          </a:p>
          <a:p>
            <a:r>
              <a:rPr sz="1500" b="0">
                <a:solidFill>
                  <a:srgbClr val="222222"/>
                </a:solidFill>
                <a:latin typeface="Calibri"/>
              </a:rPr>
              <a:t>Y los Estados deben aplicar, como muy tarde el 1 de noviembre, una tasa de tramitación para los envíos de comercio electrónico importados. Está prevista, de unos 2 €, pendiente de confirmar: el importe definitivo lo fija la Comisión.</a:t>
            </a:r>
          </a:p>
          <a:p>
            <a:r>
              <a:rPr sz="1500" b="0">
                <a:solidFill>
                  <a:srgbClr val="222222"/>
                </a:solidFill>
                <a:latin typeface="Calibri"/>
              </a:rPr>
              <a:t/>
            </a:r>
          </a:p>
          <a:p>
            <a:r>
              <a:rPr sz="1500" b="0">
                <a:solidFill>
                  <a:srgbClr val="222222"/>
                </a:solidFill>
                <a:latin typeface="Calibri"/>
              </a:rPr>
              <a:t>La @Agencia Tributaria explicó los cambios de noviembre en un seminario web el 1 de octubre.</a:t>
            </a:r>
          </a:p>
          <a:p>
            <a:r>
              <a:rPr sz="1500" b="0">
                <a:solidFill>
                  <a:srgbClr val="222222"/>
                </a:solidFill>
                <a:latin typeface="Calibri"/>
              </a:rPr>
              <a:t/>
            </a:r>
          </a:p>
          <a:p>
            <a:r>
              <a:rPr sz="1500" b="0">
                <a:solidFill>
                  <a:srgbClr val="222222"/>
                </a:solidFill>
                <a:latin typeface="Calibri"/>
              </a:rPr>
              <a:t>Por eso conviene revisar ya cómo trasladas estos costes en tus cotizaciones. Para que no te pille el toro.</a:t>
            </a:r>
          </a:p>
          <a:p>
            <a:r>
              <a:rPr sz="1500" b="0">
                <a:solidFill>
                  <a:srgbClr val="222222"/>
                </a:solidFill>
                <a:latin typeface="Calibri"/>
              </a:rPr>
              <a:t/>
            </a:r>
          </a:p>
          <a:p>
            <a:r>
              <a:rPr sz="1500" b="0">
                <a:solidFill>
                  <a:srgbClr val="222222"/>
                </a:solidFill>
                <a:latin typeface="Calibri"/>
              </a:rPr>
              <a:t>Noviembre está a la vuelta de la esquina.</a:t>
            </a:r>
          </a:p>
          <a:p>
            <a:r>
              <a:rPr sz="1500" b="0">
                <a:solidFill>
                  <a:srgbClr val="222222"/>
                </a:solidFill>
                <a:latin typeface="Calibri"/>
              </a:rPr>
              <a:t/>
            </a:r>
          </a:p>
          <a:p>
            <a:r>
              <a:rPr sz="1500" b="0">
                <a:solidFill>
                  <a:srgbClr val="222222"/>
                </a:solidFill>
                <a:latin typeface="Calibri"/>
              </a:rPr>
              <a:t>👇 Te dejo la fuente en el primer comentario.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D97A1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Comercio electrónico desde el 1 de noviembre: 3 € + la nueva tasa; el aviso práctico para quien mueve paquetería de bajo valor (después de VT el jueves)</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D97A1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R-03, R-01 · E-R1 cifra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B2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16/10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Emma González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imagen</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¿De verdad el eCMR es obligatorio?</a:t>
            </a:r>
          </a:p>
          <a:p>
            <a:r>
              <a:rPr sz="1500" b="0">
                <a:solidFill>
                  <a:srgbClr val="222222"/>
                </a:solidFill>
                <a:latin typeface="Calibri"/>
              </a:rPr>
              <a:t/>
            </a:r>
          </a:p>
          <a:p>
            <a:r>
              <a:rPr sz="1500" b="0">
                <a:solidFill>
                  <a:srgbClr val="222222"/>
                </a:solidFill>
                <a:latin typeface="Calibri"/>
              </a:rPr>
              <a:t>Es lo que más me están preguntando estos días. Y entiendo por qué.</a:t>
            </a:r>
          </a:p>
          <a:p>
            <a:r>
              <a:rPr sz="1500" b="0">
                <a:solidFill>
                  <a:srgbClr val="222222"/>
                </a:solidFill>
                <a:latin typeface="Calibri"/>
              </a:rPr>
              <a:t/>
            </a:r>
          </a:p>
          <a:p>
            <a:r>
              <a:rPr sz="1500" b="0">
                <a:solidFill>
                  <a:srgbClr val="222222"/>
                </a:solidFill>
                <a:latin typeface="Calibri"/>
              </a:rPr>
              <a:t>Lo obligatorio desde el 5 de octubre es el DeCA digital, en el transporte de mercancías por carretera dentro de España. El eCMR, en cambio, sigue siendo opcional en el transporte internacional. El Protocolo adicional al CMR está en vigor para España desde hace años.</a:t>
            </a:r>
          </a:p>
          <a:p>
            <a:r>
              <a:rPr sz="1500" b="0">
                <a:solidFill>
                  <a:srgbClr val="222222"/>
                </a:solidFill>
                <a:latin typeface="Calibri"/>
              </a:rPr>
              <a:t/>
            </a:r>
          </a:p>
          <a:p>
            <a:r>
              <a:rPr sz="1500" b="0">
                <a:solidFill>
                  <a:srgbClr val="222222"/>
                </a:solidFill>
                <a:latin typeface="Calibri"/>
              </a:rPr>
              <a:t>Entonces, ¿de dónde sale la confusión? De algunos proveedores que lo presentan como "eCMR obligatorio" y de alguna fuente que cita fechas erróneas.</a:t>
            </a:r>
          </a:p>
          <a:p>
            <a:r>
              <a:rPr sz="1500" b="0">
                <a:solidFill>
                  <a:srgbClr val="222222"/>
                </a:solidFill>
                <a:latin typeface="Calibri"/>
              </a:rPr>
              <a:t/>
            </a:r>
          </a:p>
          <a:p>
            <a:r>
              <a:rPr sz="1500" b="0">
                <a:solidFill>
                  <a:srgbClr val="222222"/>
                </a:solidFill>
                <a:latin typeface="Calibri"/>
              </a:rPr>
              <a:t>La diferencia se nota desde el primer día: uno es una obligación; el otro, una opción.</a:t>
            </a:r>
          </a:p>
          <a:p>
            <a:r>
              <a:rPr sz="1500" b="0">
                <a:solidFill>
                  <a:srgbClr val="222222"/>
                </a:solidFill>
                <a:latin typeface="Calibri"/>
              </a:rPr>
              <a:t/>
            </a:r>
          </a:p>
          <a:p>
            <a:r>
              <a:rPr sz="1500" b="0">
                <a:solidFill>
                  <a:srgbClr val="222222"/>
                </a:solidFill>
                <a:latin typeface="Calibri"/>
              </a:rPr>
              <a:t>¿Qué te han contado a ti? Fuente en el primer comentario 👇</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B23A6F"/>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¿De verdad el eCMR es obligatorio? Lo que le están preguntando estos días y por qué hay tanta confusión (después de VT el mismo día)</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B23A6F"/>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A-02 · E-C1 brazo B · E-R1 pregunta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6A4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8229600" cy="502920"/>
          </a:xfrm>
          <a:prstGeom prst="rect">
            <a:avLst/>
          </a:prstGeom>
          <a:noFill/>
        </p:spPr>
        <p:txBody>
          <a:bodyPr wrap="square">
            <a:spAutoFit/>
          </a:bodyPr>
          <a:lstStyle/>
          <a:p>
            <a:r>
              <a:rPr sz="2400" b="1">
                <a:solidFill>
                  <a:srgbClr val="FFFFFF"/>
                </a:solidFill>
                <a:latin typeface="Calibri"/>
              </a:rPr>
              <a:t>Viernes 16/10 · 12:30</a:t>
            </a:r>
          </a:p>
        </p:txBody>
      </p:sp>
      <p:sp>
        <p:nvSpPr>
          <p:cNvPr id="4" name="TextBox 3"/>
          <p:cNvSpPr txBox="1"/>
          <p:nvPr/>
        </p:nvSpPr>
        <p:spPr>
          <a:xfrm>
            <a:off x="457200" y="548640"/>
            <a:ext cx="8229600" cy="411480"/>
          </a:xfrm>
          <a:prstGeom prst="rect">
            <a:avLst/>
          </a:prstGeom>
          <a:noFill/>
        </p:spPr>
        <p:txBody>
          <a:bodyPr wrap="square">
            <a:spAutoFit/>
          </a:bodyPr>
          <a:lstStyle/>
          <a:p>
            <a:r>
              <a:rPr sz="1800" b="0">
                <a:solidFill>
                  <a:srgbClr val="FFFFFF"/>
                </a:solidFill>
                <a:latin typeface="Calibri"/>
              </a:rPr>
              <a:t>Laura Díaz · Noticias</a:t>
            </a:r>
          </a:p>
        </p:txBody>
      </p:sp>
      <p:sp>
        <p:nvSpPr>
          <p:cNvPr id="5" name="TextBox 4"/>
          <p:cNvSpPr txBox="1"/>
          <p:nvPr/>
        </p:nvSpPr>
        <p:spPr>
          <a:xfrm>
            <a:off x="8778240" y="274320"/>
            <a:ext cx="3200400" cy="548640"/>
          </a:xfrm>
          <a:prstGeom prst="rect">
            <a:avLst/>
          </a:prstGeom>
          <a:noFill/>
        </p:spPr>
        <p:txBody>
          <a:bodyPr wrap="square">
            <a:spAutoFit/>
          </a:bodyPr>
          <a:lstStyle/>
          <a:p>
            <a:r>
              <a:rPr sz="1300" b="0">
                <a:solidFill>
                  <a:srgbClr val="FFFFFF"/>
                </a:solidFill>
                <a:latin typeface="Calibri"/>
              </a:rPr>
              <a:t>Formato: solo texto, corto provocador</a:t>
            </a:r>
          </a:p>
        </p:txBody>
      </p:sp>
      <p:sp>
        <p:nvSpPr>
          <p:cNvPr id="6" name="Rectangle 5"/>
          <p:cNvSpPr/>
          <p:nvPr/>
        </p:nvSpPr>
        <p:spPr>
          <a:xfrm>
            <a:off x="365760" y="1234440"/>
            <a:ext cx="7589520" cy="5394960"/>
          </a:xfrm>
          <a:prstGeom prst="rect">
            <a:avLst/>
          </a:prstGeom>
          <a:solidFill>
            <a:srgbClr val="FFFFFF"/>
          </a:solidFill>
          <a:ln>
            <a:solidFill>
              <a:srgbClr val="D0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7223760" cy="5212080"/>
          </a:xfrm>
          <a:prstGeom prst="rect">
            <a:avLst/>
          </a:prstGeom>
          <a:noFill/>
        </p:spPr>
        <p:txBody>
          <a:bodyPr wrap="square">
            <a:spAutoFit/>
          </a:bodyPr>
          <a:lstStyle/>
          <a:p>
            <a:r>
              <a:rPr sz="1500" b="0">
                <a:solidFill>
                  <a:srgbClr val="222222"/>
                </a:solidFill>
                <a:latin typeface="Calibri"/>
              </a:rPr>
              <a:t>¿Cuántas empresas siguen con el papel "a escondidas"?</a:t>
            </a:r>
          </a:p>
          <a:p>
            <a:r>
              <a:rPr sz="1500" b="0">
                <a:solidFill>
                  <a:srgbClr val="222222"/>
                </a:solidFill>
                <a:latin typeface="Calibri"/>
              </a:rPr>
              <a:t/>
            </a:r>
          </a:p>
          <a:p>
            <a:r>
              <a:rPr sz="1500" b="0">
                <a:solidFill>
                  <a:srgbClr val="222222"/>
                </a:solidFill>
                <a:latin typeface="Calibri"/>
              </a:rPr>
              <a:t>El DeCA ya es digital y obligatorio en el transporte de mercancías por carretera. Y aun así, hay quien mantiene un formato físico con un QR que enlaza a la versión digital. Por si acaso.</a:t>
            </a:r>
          </a:p>
          <a:p>
            <a:r>
              <a:rPr sz="1500" b="0">
                <a:solidFill>
                  <a:srgbClr val="222222"/>
                </a:solidFill>
                <a:latin typeface="Calibri"/>
              </a:rPr>
              <a:t/>
            </a:r>
          </a:p>
          <a:p>
            <a:r>
              <a:rPr sz="1500" b="0">
                <a:solidFill>
                  <a:srgbClr val="222222"/>
                </a:solidFill>
                <a:latin typeface="Calibri"/>
              </a:rPr>
              <a:t>Seamos claros: eso no es transición. Es miedo al cambio con disfraz de prudencia.</a:t>
            </a:r>
          </a:p>
          <a:p>
            <a:r>
              <a:rPr sz="1500" b="0">
                <a:solidFill>
                  <a:srgbClr val="222222"/>
                </a:solidFill>
                <a:latin typeface="Calibri"/>
              </a:rPr>
              <a:t/>
            </a:r>
          </a:p>
          <a:p>
            <a:r>
              <a:rPr sz="1500" b="0">
                <a:solidFill>
                  <a:srgbClr val="222222"/>
                </a:solidFill>
                <a:latin typeface="Calibri"/>
              </a:rPr>
              <a:t>Lo entiendo. Cuando llevas años con el mismo proceso, el papel se siente como una red de seguridad. Pero un QR pegado a un folio sigue siendo el mismo folio. Y tu equipo sigue haciendo el doble trabajo.</a:t>
            </a:r>
          </a:p>
          <a:p>
            <a:r>
              <a:rPr sz="1500" b="0">
                <a:solidFill>
                  <a:srgbClr val="222222"/>
                </a:solidFill>
                <a:latin typeface="Calibri"/>
              </a:rPr>
              <a:t/>
            </a:r>
          </a:p>
          <a:p>
            <a:r>
              <a:rPr sz="1500" b="0">
                <a:solidFill>
                  <a:srgbClr val="222222"/>
                </a:solidFill>
                <a:latin typeface="Calibri"/>
              </a:rPr>
              <a:t>Al final, la red de seguridad no está en el papel. Está en el proceso.</a:t>
            </a:r>
          </a:p>
        </p:txBody>
      </p:sp>
      <p:sp>
        <p:nvSpPr>
          <p:cNvPr id="8" name="Rectangle 7"/>
          <p:cNvSpPr/>
          <p:nvPr/>
        </p:nvSpPr>
        <p:spPr>
          <a:xfrm>
            <a:off x="8183879" y="1234440"/>
            <a:ext cx="3657600" cy="53949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325880"/>
            <a:ext cx="3383280" cy="365760"/>
          </a:xfrm>
          <a:prstGeom prst="rect">
            <a:avLst/>
          </a:prstGeom>
          <a:noFill/>
        </p:spPr>
        <p:txBody>
          <a:bodyPr wrap="square">
            <a:spAutoFit/>
          </a:bodyPr>
          <a:lstStyle/>
          <a:p>
            <a:r>
              <a:rPr sz="1200" b="1">
                <a:solidFill>
                  <a:srgbClr val="6A4C9C"/>
                </a:solidFill>
                <a:latin typeface="Calibri"/>
              </a:rPr>
              <a:t>Tema</a:t>
            </a:r>
          </a:p>
        </p:txBody>
      </p:sp>
      <p:sp>
        <p:nvSpPr>
          <p:cNvPr id="10" name="TextBox 9"/>
          <p:cNvSpPr txBox="1"/>
          <p:nvPr/>
        </p:nvSpPr>
        <p:spPr>
          <a:xfrm>
            <a:off x="8321040" y="1645920"/>
            <a:ext cx="3383280" cy="2926080"/>
          </a:xfrm>
          <a:prstGeom prst="rect">
            <a:avLst/>
          </a:prstGeom>
          <a:noFill/>
        </p:spPr>
        <p:txBody>
          <a:bodyPr wrap="square">
            <a:spAutoFit/>
          </a:bodyPr>
          <a:lstStyle/>
          <a:p>
            <a:r>
              <a:rPr sz="1100" b="0">
                <a:solidFill>
                  <a:srgbClr val="555F6B"/>
                </a:solidFill>
                <a:latin typeface="Calibri"/>
              </a:rPr>
              <a:t>¿Cuántos siguen con papel "a escondidas"? Hay empresas que mantienen el papel con un QR que enlaza a la versión digital: el miedo al cambio, en una semana</a:t>
            </a:r>
          </a:p>
        </p:txBody>
      </p:sp>
      <p:sp>
        <p:nvSpPr>
          <p:cNvPr id="11" name="TextBox 10"/>
          <p:cNvSpPr txBox="1"/>
          <p:nvPr/>
        </p:nvSpPr>
        <p:spPr>
          <a:xfrm>
            <a:off x="8321040" y="4754880"/>
            <a:ext cx="3383280" cy="365760"/>
          </a:xfrm>
          <a:prstGeom prst="rect">
            <a:avLst/>
          </a:prstGeom>
          <a:noFill/>
        </p:spPr>
        <p:txBody>
          <a:bodyPr wrap="square">
            <a:spAutoFit/>
          </a:bodyPr>
          <a:lstStyle/>
          <a:p>
            <a:r>
              <a:rPr sz="1200" b="1">
                <a:solidFill>
                  <a:srgbClr val="6A4C9C"/>
                </a:solidFill>
                <a:latin typeface="Calibri"/>
              </a:rPr>
              <a:t>Aprendizaje / experimento</a:t>
            </a:r>
          </a:p>
        </p:txBody>
      </p:sp>
      <p:sp>
        <p:nvSpPr>
          <p:cNvPr id="12" name="TextBox 11"/>
          <p:cNvSpPr txBox="1"/>
          <p:nvPr/>
        </p:nvSpPr>
        <p:spPr>
          <a:xfrm>
            <a:off x="8321040" y="5074920"/>
            <a:ext cx="3383280" cy="1463040"/>
          </a:xfrm>
          <a:prstGeom prst="rect">
            <a:avLst/>
          </a:prstGeom>
          <a:noFill/>
        </p:spPr>
        <p:txBody>
          <a:bodyPr wrap="square">
            <a:spAutoFit/>
          </a:bodyPr>
          <a:lstStyle/>
          <a:p>
            <a:r>
              <a:rPr sz="1100" b="0">
                <a:solidFill>
                  <a:srgbClr val="555F6B"/>
                </a:solidFill>
                <a:latin typeface="Calibri"/>
              </a:rPr>
              <a:t>R-L1 · E-C1 brazo B · E-R1 pregunta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